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hgye6x7QZej2FLFRbxHQVr9eUA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55BA33D-3B61-4ABE-884B-8D3AB78356F0}">
  <a:tblStyle styleId="{855BA33D-3B61-4ABE-884B-8D3AB78356F0}"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1"/>
          </a:solidFill>
        </a:fill>
      </a:tcStyle>
    </a:lastCol>
    <a:firstCol>
      <a:tcTxStyle b="on" i="off">
        <a:font>
          <a:latin typeface="游ゴシック"/>
          <a:ea typeface="游ゴシック"/>
          <a:cs typeface="游ゴシック"/>
        </a:font>
        <a:schemeClr val="lt1"/>
      </a:tcTxStyle>
      <a:tcStyle>
        <a:tcBdr/>
        <a:fill>
          <a:solidFill>
            <a:schemeClr val="accent1"/>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39" d="100"/>
          <a:sy n="39" d="100"/>
        </p:scale>
        <p:origin x="20"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メイリオ" panose="020B0604030504040204" pitchFamily="50" charset="-128"/>
                <a:ea typeface="メイリオ" panose="020B0604030504040204" pitchFamily="50" charset="-128"/>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lang="ja-JP" altLang="en-US"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メイリオ" panose="020B0604030504040204" pitchFamily="50" charset="-128"/>
                <a:ea typeface="メイリオ" panose="020B0604030504040204" pitchFamily="50" charset="-128"/>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lang="ja-JP" altLang="en-US"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dirty="0"/>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メイリオ" panose="020B0604030504040204" pitchFamily="50" charset="-128"/>
                <a:ea typeface="メイリオ" panose="020B0604030504040204" pitchFamily="50" charset="-128"/>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lang="ja-JP" altLang="en-US"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lvl1pPr>
              <a:defRPr>
                <a:latin typeface="メイリオ" panose="020B0604030504040204" pitchFamily="50" charset="-128"/>
                <a:ea typeface="メイリオ" panose="020B0604030504040204" pitchFamily="50" charset="-128"/>
              </a:defRPr>
            </a:lvl1pPr>
          </a:lstStyle>
          <a:p>
            <a:pPr algn="r"/>
            <a:fld id="{00000000-1234-1234-1234-123412341234}" type="slidenum">
              <a:rPr lang="en-US" altLang="ja-JP" sz="1200" smtClean="0">
                <a:solidFill>
                  <a:schemeClr val="dk1"/>
                </a:solidFill>
              </a:rPr>
              <a:pPr algn="r"/>
              <a:t>‹#›</a:t>
            </a:fld>
            <a:endParaRPr lang="ja-JP" altLang="en-US" sz="1200" dirty="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游明朝" panose="02020400000000000000" pitchFamily="18" charset="-128"/>
        <a:ea typeface="游明朝" panose="02020400000000000000" pitchFamily="18"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1</a:t>
            </a:fld>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104" name="Google Shape;104;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3</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116" name="Google Shape;11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e99203a0a5_4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127" name="Google Shape;127;g2e99203a0a5_4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138" name="Google Shape;13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147" name="Google Shape;14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edc8a47b3c_1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158" name="Google Shape;158;g2edc8a47b3c_1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e99203a0a5_5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166" name="Google Shape;166;g2e99203a0a5_5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2edc8a47b3c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175" name="Google Shape;175;g2edc8a47b3c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184" name="Google Shape;18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782ed6f2e9_0_15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g2782ed6f2e9_0_15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203" name="Google Shape;203;g2782ed6f2e9_0_15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12</a:t>
            </a:fld>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211" name="Google Shape;21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221" name="Google Shape;221;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14</a:t>
            </a:fld>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e99203a0a5_2_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231" name="Google Shape;231;g2e99203a0a5_2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e99203a0a5_2_5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240" name="Google Shape;240;g2e99203a0a5_2_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251" name="Google Shape;25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edc8a47b3c_1_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261" name="Google Shape;261;g2edc8a47b3c_1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edc8a47b3c_1_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272" name="Google Shape;272;g2edc8a47b3c_1_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e99203a0a5_2_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280" name="Google Shape;280;g2e99203a0a5_2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edc8a47b3c_1_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289" name="Google Shape;289;g2edc8a47b3c_1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e99203a0a5_2_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298" name="Google Shape;298;g2e99203a0a5_2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317" name="Google Shape;317;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23</a:t>
            </a:fld>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329" name="Google Shape;32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343" name="Google Shape;34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メイリオ" panose="020B0604030504040204" pitchFamily="50" charset="-128"/>
              <a:ea typeface="メイリオ" panose="020B0604030504040204" pitchFamily="50" charset="-128"/>
            </a:endParaRPr>
          </a:p>
        </p:txBody>
      </p:sp>
      <p:sp>
        <p:nvSpPr>
          <p:cNvPr id="372" name="Google Shape;37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5"/>
        <p:cNvGrpSpPr/>
        <p:nvPr/>
      </p:nvGrpSpPr>
      <p:grpSpPr>
        <a:xfrm>
          <a:off x="0" y="0"/>
          <a:ext cx="0" cy="0"/>
          <a:chOff x="0" y="0"/>
          <a:chExt cx="0" cy="0"/>
        </a:xfrm>
      </p:grpSpPr>
      <p:sp>
        <p:nvSpPr>
          <p:cNvPr id="16" name="Google Shape;16;p2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atin typeface="メイリオ" panose="020B0604030504040204" pitchFamily="50" charset="-128"/>
                <a:ea typeface="メイリオ" panose="020B0604030504040204" pitchFamily="50" charset="-128"/>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dirty="0"/>
          </a:p>
        </p:txBody>
      </p:sp>
      <p:sp>
        <p:nvSpPr>
          <p:cNvPr id="17" name="Google Shape;17;p21"/>
          <p:cNvSpPr txBox="1">
            <a:spLocks noGrp="1"/>
          </p:cNvSpPr>
          <p:nvPr>
            <p:ph type="body" idx="1"/>
          </p:nvPr>
        </p:nvSpPr>
        <p:spPr>
          <a:xfrm>
            <a:off x="591725" y="2050093"/>
            <a:ext cx="11008500" cy="3683400"/>
          </a:xfrm>
          <a:prstGeom prst="rect">
            <a:avLst/>
          </a:prstGeom>
          <a:noFill/>
          <a:ln>
            <a:noFill/>
          </a:ln>
        </p:spPr>
        <p:txBody>
          <a:bodyPr spcFirstLastPara="1" wrap="square" lIns="91425" tIns="45700" rIns="91425" bIns="45700" anchor="ctr" anchorCtr="0">
            <a:normAutofit/>
          </a:bodyPr>
          <a:lstStyle>
            <a:lvl1pPr marL="457200" lvl="0" indent="-342900" algn="ctr" rtl="0">
              <a:spcBef>
                <a:spcPts val="1000"/>
              </a:spcBef>
              <a:spcAft>
                <a:spcPts val="0"/>
              </a:spcAft>
              <a:buClr>
                <a:schemeClr val="dk1"/>
              </a:buClr>
              <a:buSzPts val="1800"/>
              <a:buChar char="•"/>
              <a:defRPr>
                <a:latin typeface="メイリオ" panose="020B0604030504040204" pitchFamily="50" charset="-128"/>
                <a:ea typeface="メイリオ" panose="020B0604030504040204" pitchFamily="50" charset="-128"/>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dirty="0"/>
          </a:p>
        </p:txBody>
      </p:sp>
      <p:sp>
        <p:nvSpPr>
          <p:cNvPr id="18" name="Google Shape;18;p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19" name="Google Shape;19;p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20" name="Google Shape;20;p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US" altLang="ja-JP" smtClean="0"/>
              <a:pPr/>
              <a:t>‹#›</a:t>
            </a:fld>
            <a:endParaRPr lang="ja-JP"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21"/>
        <p:cNvGrpSpPr/>
        <p:nvPr/>
      </p:nvGrpSpPr>
      <p:grpSpPr>
        <a:xfrm>
          <a:off x="0" y="0"/>
          <a:ext cx="0" cy="0"/>
          <a:chOff x="0" y="0"/>
          <a:chExt cx="0" cy="0"/>
        </a:xfrm>
      </p:grpSpPr>
      <p:sp>
        <p:nvSpPr>
          <p:cNvPr id="22" name="Google Shape;22;p22"/>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Arial"/>
              <a:buNone/>
              <a:defRPr sz="6000">
                <a:latin typeface="メイリオ" panose="020B0604030504040204" pitchFamily="50" charset="-128"/>
                <a:ea typeface="メイリオ" panose="020B0604030504040204" pitchFamily="50" charset="-128"/>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dirty="0"/>
          </a:p>
        </p:txBody>
      </p:sp>
      <p:sp>
        <p:nvSpPr>
          <p:cNvPr id="23" name="Google Shape;23;p2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atin typeface="メイリオ" panose="020B0604030504040204" pitchFamily="50" charset="-128"/>
                <a:ea typeface="メイリオ" panose="020B0604030504040204" pitchFamily="50" charset="-128"/>
              </a:defRPr>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dirty="0"/>
          </a:p>
        </p:txBody>
      </p:sp>
      <p:sp>
        <p:nvSpPr>
          <p:cNvPr id="24" name="Google Shape;24;p2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25" name="Google Shape;25;p2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26" name="Google Shape;26;p2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US" altLang="ja-JP" smtClean="0"/>
              <a:pPr/>
              <a:t>‹#›</a:t>
            </a:fld>
            <a:endParaRPr lang="ja-JP"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7"/>
        <p:cNvGrpSpPr/>
        <p:nvPr/>
      </p:nvGrpSpPr>
      <p:grpSpPr>
        <a:xfrm>
          <a:off x="0" y="0"/>
          <a:ext cx="0" cy="0"/>
          <a:chOff x="0" y="0"/>
          <a:chExt cx="0" cy="0"/>
        </a:xfrm>
      </p:grpSpPr>
      <p:sp>
        <p:nvSpPr>
          <p:cNvPr id="28" name="Google Shape;28;p23"/>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Arial"/>
              <a:buNone/>
              <a:defRPr sz="6000">
                <a:latin typeface="メイリオ" panose="020B0604030504040204" pitchFamily="50" charset="-128"/>
                <a:ea typeface="メイリオ" panose="020B0604030504040204" pitchFamily="50" charset="-128"/>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dirty="0"/>
          </a:p>
        </p:txBody>
      </p:sp>
      <p:sp>
        <p:nvSpPr>
          <p:cNvPr id="29" name="Google Shape;29;p23"/>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757575"/>
              </a:buClr>
              <a:buSzPts val="2400"/>
              <a:buNone/>
              <a:defRPr sz="2400">
                <a:solidFill>
                  <a:srgbClr val="757575"/>
                </a:solidFill>
                <a:latin typeface="メイリオ" panose="020B0604030504040204" pitchFamily="50" charset="-128"/>
                <a:ea typeface="メイリオ" panose="020B0604030504040204" pitchFamily="50" charset="-128"/>
              </a:defRPr>
            </a:lvl1pPr>
            <a:lvl2pPr marL="914400" lvl="1" indent="-228600" algn="l" rtl="0">
              <a:lnSpc>
                <a:spcPct val="90000"/>
              </a:lnSpc>
              <a:spcBef>
                <a:spcPts val="500"/>
              </a:spcBef>
              <a:spcAft>
                <a:spcPts val="0"/>
              </a:spcAft>
              <a:buClr>
                <a:srgbClr val="757575"/>
              </a:buClr>
              <a:buSzPts val="2000"/>
              <a:buNone/>
              <a:defRPr sz="2000">
                <a:solidFill>
                  <a:srgbClr val="757575"/>
                </a:solidFill>
              </a:defRPr>
            </a:lvl2pPr>
            <a:lvl3pPr marL="1371600" lvl="2" indent="-228600" algn="l" rtl="0">
              <a:lnSpc>
                <a:spcPct val="90000"/>
              </a:lnSpc>
              <a:spcBef>
                <a:spcPts val="500"/>
              </a:spcBef>
              <a:spcAft>
                <a:spcPts val="0"/>
              </a:spcAft>
              <a:buClr>
                <a:srgbClr val="757575"/>
              </a:buClr>
              <a:buSzPts val="1800"/>
              <a:buNone/>
              <a:defRPr sz="1800">
                <a:solidFill>
                  <a:srgbClr val="757575"/>
                </a:solidFill>
              </a:defRPr>
            </a:lvl3pPr>
            <a:lvl4pPr marL="1828800" lvl="3" indent="-228600" algn="l" rtl="0">
              <a:lnSpc>
                <a:spcPct val="90000"/>
              </a:lnSpc>
              <a:spcBef>
                <a:spcPts val="500"/>
              </a:spcBef>
              <a:spcAft>
                <a:spcPts val="0"/>
              </a:spcAft>
              <a:buClr>
                <a:srgbClr val="757575"/>
              </a:buClr>
              <a:buSzPts val="1600"/>
              <a:buNone/>
              <a:defRPr sz="1600">
                <a:solidFill>
                  <a:srgbClr val="757575"/>
                </a:solidFill>
              </a:defRPr>
            </a:lvl4pPr>
            <a:lvl5pPr marL="2286000" lvl="4" indent="-228600" algn="l" rtl="0">
              <a:lnSpc>
                <a:spcPct val="90000"/>
              </a:lnSpc>
              <a:spcBef>
                <a:spcPts val="500"/>
              </a:spcBef>
              <a:spcAft>
                <a:spcPts val="0"/>
              </a:spcAft>
              <a:buClr>
                <a:srgbClr val="757575"/>
              </a:buClr>
              <a:buSzPts val="1600"/>
              <a:buNone/>
              <a:defRPr sz="1600">
                <a:solidFill>
                  <a:srgbClr val="757575"/>
                </a:solidFill>
              </a:defRPr>
            </a:lvl5pPr>
            <a:lvl6pPr marL="2743200" lvl="5" indent="-228600" algn="l" rtl="0">
              <a:lnSpc>
                <a:spcPct val="90000"/>
              </a:lnSpc>
              <a:spcBef>
                <a:spcPts val="500"/>
              </a:spcBef>
              <a:spcAft>
                <a:spcPts val="0"/>
              </a:spcAft>
              <a:buClr>
                <a:srgbClr val="757575"/>
              </a:buClr>
              <a:buSzPts val="1600"/>
              <a:buNone/>
              <a:defRPr sz="1600">
                <a:solidFill>
                  <a:srgbClr val="757575"/>
                </a:solidFill>
              </a:defRPr>
            </a:lvl6pPr>
            <a:lvl7pPr marL="3200400" lvl="6" indent="-228600" algn="l" rtl="0">
              <a:lnSpc>
                <a:spcPct val="90000"/>
              </a:lnSpc>
              <a:spcBef>
                <a:spcPts val="500"/>
              </a:spcBef>
              <a:spcAft>
                <a:spcPts val="0"/>
              </a:spcAft>
              <a:buClr>
                <a:srgbClr val="757575"/>
              </a:buClr>
              <a:buSzPts val="1600"/>
              <a:buNone/>
              <a:defRPr sz="1600">
                <a:solidFill>
                  <a:srgbClr val="757575"/>
                </a:solidFill>
              </a:defRPr>
            </a:lvl7pPr>
            <a:lvl8pPr marL="3657600" lvl="7" indent="-228600" algn="l" rtl="0">
              <a:lnSpc>
                <a:spcPct val="90000"/>
              </a:lnSpc>
              <a:spcBef>
                <a:spcPts val="500"/>
              </a:spcBef>
              <a:spcAft>
                <a:spcPts val="0"/>
              </a:spcAft>
              <a:buClr>
                <a:srgbClr val="757575"/>
              </a:buClr>
              <a:buSzPts val="1600"/>
              <a:buNone/>
              <a:defRPr sz="1600">
                <a:solidFill>
                  <a:srgbClr val="757575"/>
                </a:solidFill>
              </a:defRPr>
            </a:lvl8pPr>
            <a:lvl9pPr marL="4114800" lvl="8" indent="-228600" algn="l" rtl="0">
              <a:lnSpc>
                <a:spcPct val="90000"/>
              </a:lnSpc>
              <a:spcBef>
                <a:spcPts val="500"/>
              </a:spcBef>
              <a:spcAft>
                <a:spcPts val="0"/>
              </a:spcAft>
              <a:buClr>
                <a:srgbClr val="757575"/>
              </a:buClr>
              <a:buSzPts val="1600"/>
              <a:buNone/>
              <a:defRPr sz="1600">
                <a:solidFill>
                  <a:srgbClr val="757575"/>
                </a:solidFill>
              </a:defRPr>
            </a:lvl9pPr>
          </a:lstStyle>
          <a:p>
            <a:endParaRPr dirty="0"/>
          </a:p>
        </p:txBody>
      </p:sp>
      <p:sp>
        <p:nvSpPr>
          <p:cNvPr id="30" name="Google Shape;30;p2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31" name="Google Shape;31;p2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32" name="Google Shape;32;p2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US" altLang="ja-JP" smtClean="0"/>
              <a:pPr/>
              <a:t>‹#›</a:t>
            </a:fld>
            <a:endParaRPr lang="ja-JP"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33"/>
        <p:cNvGrpSpPr/>
        <p:nvPr/>
      </p:nvGrpSpPr>
      <p:grpSpPr>
        <a:xfrm>
          <a:off x="0" y="0"/>
          <a:ext cx="0" cy="0"/>
          <a:chOff x="0" y="0"/>
          <a:chExt cx="0" cy="0"/>
        </a:xfrm>
      </p:grpSpPr>
      <p:sp>
        <p:nvSpPr>
          <p:cNvPr id="34" name="Google Shape;34;p2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atin typeface="メイリオ" panose="020B0604030504040204" pitchFamily="50" charset="-128"/>
                <a:ea typeface="メイリオ" panose="020B0604030504040204" pitchFamily="50" charset="-128"/>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dirty="0"/>
          </a:p>
        </p:txBody>
      </p:sp>
      <p:sp>
        <p:nvSpPr>
          <p:cNvPr id="35" name="Google Shape;35;p24"/>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atin typeface="メイリオ" panose="020B0604030504040204" pitchFamily="50" charset="-128"/>
                <a:ea typeface="メイリオ" panose="020B0604030504040204" pitchFamily="50" charset="-128"/>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dirty="0"/>
          </a:p>
        </p:txBody>
      </p:sp>
      <p:sp>
        <p:nvSpPr>
          <p:cNvPr id="36" name="Google Shape;36;p24"/>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atin typeface="メイリオ" panose="020B0604030504040204" pitchFamily="50" charset="-128"/>
                <a:ea typeface="メイリオ" panose="020B0604030504040204" pitchFamily="50" charset="-128"/>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dirty="0"/>
          </a:p>
        </p:txBody>
      </p:sp>
      <p:sp>
        <p:nvSpPr>
          <p:cNvPr id="37" name="Google Shape;37;p2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38" name="Google Shape;38;p2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39" name="Google Shape;39;p2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US" altLang="ja-JP" smtClean="0"/>
              <a:pPr/>
              <a:t>‹#›</a:t>
            </a:fld>
            <a:endParaRPr lang="ja-JP"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40"/>
        <p:cNvGrpSpPr/>
        <p:nvPr/>
      </p:nvGrpSpPr>
      <p:grpSpPr>
        <a:xfrm>
          <a:off x="0" y="0"/>
          <a:ext cx="0" cy="0"/>
          <a:chOff x="0" y="0"/>
          <a:chExt cx="0" cy="0"/>
        </a:xfrm>
      </p:grpSpPr>
      <p:sp>
        <p:nvSpPr>
          <p:cNvPr id="41" name="Google Shape;41;p25"/>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atin typeface="メイリオ" panose="020B0604030504040204" pitchFamily="50" charset="-128"/>
                <a:ea typeface="メイリオ" panose="020B0604030504040204" pitchFamily="50" charset="-128"/>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dirty="0"/>
          </a:p>
        </p:txBody>
      </p:sp>
      <p:sp>
        <p:nvSpPr>
          <p:cNvPr id="42" name="Google Shape;42;p25"/>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atin typeface="メイリオ" panose="020B0604030504040204" pitchFamily="50" charset="-128"/>
                <a:ea typeface="メイリオ" panose="020B0604030504040204" pitchFamily="50" charset="-128"/>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dirty="0"/>
          </a:p>
        </p:txBody>
      </p:sp>
      <p:sp>
        <p:nvSpPr>
          <p:cNvPr id="43" name="Google Shape;43;p25"/>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atin typeface="メイリオ" panose="020B0604030504040204" pitchFamily="50" charset="-128"/>
                <a:ea typeface="メイリオ" panose="020B0604030504040204" pitchFamily="50" charset="-128"/>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dirty="0"/>
          </a:p>
        </p:txBody>
      </p:sp>
      <p:sp>
        <p:nvSpPr>
          <p:cNvPr id="44" name="Google Shape;44;p25"/>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atin typeface="メイリオ" panose="020B0604030504040204" pitchFamily="50" charset="-128"/>
                <a:ea typeface="メイリオ" panose="020B0604030504040204" pitchFamily="50" charset="-128"/>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dirty="0"/>
          </a:p>
        </p:txBody>
      </p:sp>
      <p:sp>
        <p:nvSpPr>
          <p:cNvPr id="45" name="Google Shape;45;p25"/>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atin typeface="メイリオ" panose="020B0604030504040204" pitchFamily="50" charset="-128"/>
                <a:ea typeface="メイリオ" panose="020B0604030504040204" pitchFamily="50" charset="-128"/>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dirty="0"/>
          </a:p>
        </p:txBody>
      </p:sp>
      <p:sp>
        <p:nvSpPr>
          <p:cNvPr id="46" name="Google Shape;46;p2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47" name="Google Shape;47;p2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48" name="Google Shape;48;p2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US" altLang="ja-JP" smtClean="0"/>
              <a:pPr/>
              <a:t>‹#›</a:t>
            </a:fld>
            <a:endParaRPr lang="ja-JP"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9"/>
        <p:cNvGrpSpPr/>
        <p:nvPr/>
      </p:nvGrpSpPr>
      <p:grpSpPr>
        <a:xfrm>
          <a:off x="0" y="0"/>
          <a:ext cx="0" cy="0"/>
          <a:chOff x="0" y="0"/>
          <a:chExt cx="0" cy="0"/>
        </a:xfrm>
      </p:grpSpPr>
      <p:sp>
        <p:nvSpPr>
          <p:cNvPr id="50" name="Google Shape;50;p2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atin typeface="メイリオ" panose="020B0604030504040204" pitchFamily="50" charset="-128"/>
                <a:ea typeface="メイリオ" panose="020B0604030504040204" pitchFamily="50" charset="-128"/>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dirty="0"/>
          </a:p>
        </p:txBody>
      </p:sp>
      <p:sp>
        <p:nvSpPr>
          <p:cNvPr id="51" name="Google Shape;51;p2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52" name="Google Shape;52;p2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53" name="Google Shape;53;p2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US" altLang="ja-JP" smtClean="0"/>
              <a:pPr/>
              <a:t>‹#›</a:t>
            </a:fld>
            <a:endParaRPr lang="ja-JP"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4"/>
        <p:cNvGrpSpPr/>
        <p:nvPr/>
      </p:nvGrpSpPr>
      <p:grpSpPr>
        <a:xfrm>
          <a:off x="0" y="0"/>
          <a:ext cx="0" cy="0"/>
          <a:chOff x="0" y="0"/>
          <a:chExt cx="0" cy="0"/>
        </a:xfrm>
      </p:grpSpPr>
      <p:sp>
        <p:nvSpPr>
          <p:cNvPr id="55" name="Google Shape;55;p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56" name="Google Shape;56;p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57" name="Google Shape;57;p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US" altLang="ja-JP" smtClean="0"/>
              <a:pPr/>
              <a:t>‹#›</a:t>
            </a:fld>
            <a:endParaRPr lang="ja-JP"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8"/>
        <p:cNvGrpSpPr/>
        <p:nvPr/>
      </p:nvGrpSpPr>
      <p:grpSpPr>
        <a:xfrm>
          <a:off x="0" y="0"/>
          <a:ext cx="0" cy="0"/>
          <a:chOff x="0" y="0"/>
          <a:chExt cx="0" cy="0"/>
        </a:xfrm>
      </p:grpSpPr>
      <p:sp>
        <p:nvSpPr>
          <p:cNvPr id="59" name="Google Shape;59;p28"/>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Arial"/>
              <a:buNone/>
              <a:defRPr sz="3200">
                <a:latin typeface="メイリオ" panose="020B0604030504040204" pitchFamily="50" charset="-128"/>
                <a:ea typeface="メイリオ" panose="020B0604030504040204" pitchFamily="50" charset="-128"/>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dirty="0"/>
          </a:p>
        </p:txBody>
      </p:sp>
      <p:sp>
        <p:nvSpPr>
          <p:cNvPr id="60" name="Google Shape;60;p28"/>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atin typeface="メイリオ" panose="020B0604030504040204" pitchFamily="50" charset="-128"/>
                <a:ea typeface="メイリオ" panose="020B0604030504040204" pitchFamily="50" charset="-128"/>
              </a:defRPr>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dirty="0"/>
          </a:p>
        </p:txBody>
      </p:sp>
      <p:sp>
        <p:nvSpPr>
          <p:cNvPr id="61" name="Google Shape;61;p28"/>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atin typeface="メイリオ" panose="020B0604030504040204" pitchFamily="50" charset="-128"/>
                <a:ea typeface="メイリオ" panose="020B0604030504040204" pitchFamily="50" charset="-128"/>
              </a:defRPr>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dirty="0"/>
          </a:p>
        </p:txBody>
      </p:sp>
      <p:sp>
        <p:nvSpPr>
          <p:cNvPr id="62" name="Google Shape;62;p2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63" name="Google Shape;63;p2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64" name="Google Shape;64;p2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US" altLang="ja-JP" smtClean="0"/>
              <a:pPr/>
              <a:t>‹#›</a:t>
            </a:fld>
            <a:endParaRPr lang="ja-JP"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5"/>
        <p:cNvGrpSpPr/>
        <p:nvPr/>
      </p:nvGrpSpPr>
      <p:grpSpPr>
        <a:xfrm>
          <a:off x="0" y="0"/>
          <a:ext cx="0" cy="0"/>
          <a:chOff x="0" y="0"/>
          <a:chExt cx="0" cy="0"/>
        </a:xfrm>
      </p:grpSpPr>
      <p:sp>
        <p:nvSpPr>
          <p:cNvPr id="66" name="Google Shape;66;p2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Arial"/>
              <a:buNone/>
              <a:defRPr sz="3200">
                <a:latin typeface="メイリオ" panose="020B0604030504040204" pitchFamily="50" charset="-128"/>
                <a:ea typeface="メイリオ" panose="020B0604030504040204" pitchFamily="50" charset="-128"/>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dirty="0"/>
          </a:p>
        </p:txBody>
      </p:sp>
      <p:sp>
        <p:nvSpPr>
          <p:cNvPr id="67" name="Google Shape;67;p29"/>
          <p:cNvSpPr>
            <a:spLocks noGrp="1"/>
          </p:cNvSpPr>
          <p:nvPr>
            <p:ph type="pic" idx="2"/>
          </p:nvPr>
        </p:nvSpPr>
        <p:spPr>
          <a:xfrm>
            <a:off x="5183188" y="987425"/>
            <a:ext cx="6172200" cy="4873500"/>
          </a:xfrm>
          <a:prstGeom prst="rect">
            <a:avLst/>
          </a:prstGeom>
          <a:noFill/>
          <a:ln>
            <a:noFill/>
          </a:ln>
        </p:spPr>
      </p:sp>
      <p:sp>
        <p:nvSpPr>
          <p:cNvPr id="68" name="Google Shape;68;p29"/>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atin typeface="メイリオ" panose="020B0604030504040204" pitchFamily="50" charset="-128"/>
                <a:ea typeface="メイリオ" panose="020B0604030504040204" pitchFamily="50" charset="-128"/>
              </a:defRPr>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dirty="0"/>
          </a:p>
        </p:txBody>
      </p:sp>
      <p:sp>
        <p:nvSpPr>
          <p:cNvPr id="69" name="Google Shape;69;p2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70" name="Google Shape;70;p2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71" name="Google Shape;71;p2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US" altLang="ja-JP" smtClean="0"/>
              <a:pPr/>
              <a:t>‹#›</a:t>
            </a:fld>
            <a:endParaRPr lang="ja-JP"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72"/>
        <p:cNvGrpSpPr/>
        <p:nvPr/>
      </p:nvGrpSpPr>
      <p:grpSpPr>
        <a:xfrm>
          <a:off x="0" y="0"/>
          <a:ext cx="0" cy="0"/>
          <a:chOff x="0" y="0"/>
          <a:chExt cx="0" cy="0"/>
        </a:xfrm>
      </p:grpSpPr>
      <p:sp>
        <p:nvSpPr>
          <p:cNvPr id="73" name="Google Shape;73;p3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atin typeface="メイリオ" panose="020B0604030504040204" pitchFamily="50" charset="-128"/>
                <a:ea typeface="メイリオ" panose="020B0604030504040204" pitchFamily="50" charset="-128"/>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dirty="0"/>
          </a:p>
        </p:txBody>
      </p:sp>
      <p:sp>
        <p:nvSpPr>
          <p:cNvPr id="74" name="Google Shape;74;p30"/>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atin typeface="メイリオ" panose="020B0604030504040204" pitchFamily="50" charset="-128"/>
                <a:ea typeface="メイリオ" panose="020B0604030504040204" pitchFamily="50" charset="-128"/>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dirty="0"/>
          </a:p>
        </p:txBody>
      </p:sp>
      <p:sp>
        <p:nvSpPr>
          <p:cNvPr id="75" name="Google Shape;75;p3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76" name="Google Shape;76;p3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77" name="Google Shape;77;p3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US" altLang="ja-JP" smtClean="0"/>
              <a:pPr/>
              <a:t>‹#›</a:t>
            </a:fld>
            <a:endParaRPr lang="ja-JP"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8"/>
        <p:cNvGrpSpPr/>
        <p:nvPr/>
      </p:nvGrpSpPr>
      <p:grpSpPr>
        <a:xfrm>
          <a:off x="0" y="0"/>
          <a:ext cx="0" cy="0"/>
          <a:chOff x="0" y="0"/>
          <a:chExt cx="0" cy="0"/>
        </a:xfrm>
      </p:grpSpPr>
      <p:sp>
        <p:nvSpPr>
          <p:cNvPr id="79" name="Google Shape;79;p31"/>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atin typeface="メイリオ" panose="020B0604030504040204" pitchFamily="50" charset="-128"/>
                <a:ea typeface="メイリオ" panose="020B0604030504040204" pitchFamily="50" charset="-128"/>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dirty="0"/>
          </a:p>
        </p:txBody>
      </p:sp>
      <p:sp>
        <p:nvSpPr>
          <p:cNvPr id="80" name="Google Shape;80;p31"/>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atin typeface="メイリオ" panose="020B0604030504040204" pitchFamily="50" charset="-128"/>
                <a:ea typeface="メイリオ" panose="020B0604030504040204" pitchFamily="50" charset="-128"/>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dirty="0"/>
          </a:p>
        </p:txBody>
      </p:sp>
      <p:sp>
        <p:nvSpPr>
          <p:cNvPr id="81" name="Google Shape;81;p3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82" name="Google Shape;82;p3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ja-JP" altLang="en-US" dirty="0"/>
          </a:p>
        </p:txBody>
      </p:sp>
      <p:sp>
        <p:nvSpPr>
          <p:cNvPr id="83" name="Google Shape;83;p3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US" altLang="ja-JP" smtClean="0"/>
              <a:pPr/>
              <a:t>‹#›</a:t>
            </a:fld>
            <a:endParaRPr lang="ja-JP"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dirty="0"/>
          </a:p>
        </p:txBody>
      </p:sp>
      <p:sp>
        <p:nvSpPr>
          <p:cNvPr id="11" name="Google Shape;11;p2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dirty="0"/>
          </a:p>
        </p:txBody>
      </p:sp>
      <p:sp>
        <p:nvSpPr>
          <p:cNvPr id="12" name="Google Shape;12;p2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メイリオ" panose="020B0604030504040204" pitchFamily="50" charset="-128"/>
                <a:ea typeface="メイリオ" panose="020B0604030504040204" pitchFamily="50" charset="-128"/>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lang="ja-JP" altLang="en-US" dirty="0"/>
          </a:p>
        </p:txBody>
      </p:sp>
      <p:sp>
        <p:nvSpPr>
          <p:cNvPr id="13" name="Google Shape;13;p2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メイリオ" panose="020B0604030504040204" pitchFamily="50" charset="-128"/>
                <a:ea typeface="メイリオ" panose="020B0604030504040204" pitchFamily="50" charset="-128"/>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lang="ja-JP" altLang="en-US" dirty="0"/>
          </a:p>
        </p:txBody>
      </p:sp>
      <p:sp>
        <p:nvSpPr>
          <p:cNvPr id="14" name="Google Shape;14;p2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メイリオ" panose="020B0604030504040204" pitchFamily="50" charset="-128"/>
                <a:ea typeface="メイリオ" panose="020B0604030504040204" pitchFamily="50" charset="-128"/>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fld id="{00000000-1234-1234-1234-123412341234}" type="slidenum">
              <a:rPr lang="en-US" altLang="ja-JP" smtClean="0"/>
              <a:pPr/>
              <a:t>‹#›</a:t>
            </a:fld>
            <a:endParaRPr lang="ja-JP" altLang="en-US"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游明朝" panose="02020400000000000000" pitchFamily="18" charset="-128"/>
          <a:ea typeface="游明朝" panose="02020400000000000000" pitchFamily="18"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游明朝" panose="02020400000000000000" pitchFamily="18" charset="-128"/>
          <a:ea typeface="游明朝" panose="02020400000000000000" pitchFamily="18"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hyperlink" Target="http://drive.google.com/file/d/1kFfnYoT7_o1KsFRgpbWAeXi6SjzQ92h9/view"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hyperlink" Target="http://drive.google.com/file/d/1kFfnYoT7_o1KsFRgpbWAeXi6SjzQ92h9/view"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6D7A8"/>
        </a:solidFill>
        <a:effectLst/>
      </p:bgPr>
    </p:bg>
    <p:spTree>
      <p:nvGrpSpPr>
        <p:cNvPr id="1" name="Shape 88"/>
        <p:cNvGrpSpPr/>
        <p:nvPr/>
      </p:nvGrpSpPr>
      <p:grpSpPr>
        <a:xfrm>
          <a:off x="0" y="0"/>
          <a:ext cx="0" cy="0"/>
          <a:chOff x="0" y="0"/>
          <a:chExt cx="0" cy="0"/>
        </a:xfrm>
      </p:grpSpPr>
      <p:sp>
        <p:nvSpPr>
          <p:cNvPr id="89" name="Google Shape;89;p1"/>
          <p:cNvSpPr/>
          <p:nvPr/>
        </p:nvSpPr>
        <p:spPr>
          <a:xfrm>
            <a:off x="3974206" y="4368623"/>
            <a:ext cx="4243589" cy="18288"/>
          </a:xfrm>
          <a:custGeom>
            <a:avLst/>
            <a:gdLst/>
            <a:ahLst/>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4901"/>
            </a:srgbClr>
          </a:solidFill>
          <a:ln w="44450" cap="rnd" cmpd="sng">
            <a:solidFill>
              <a:schemeClr val="lt1">
                <a:alpha val="74901"/>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メイリオ" panose="020B0604030504040204" pitchFamily="50" charset="-128"/>
              <a:ea typeface="メイリオ" panose="020B0604030504040204" pitchFamily="50" charset="-128"/>
              <a:sym typeface="Arial"/>
            </a:endParaRPr>
          </a:p>
        </p:txBody>
      </p:sp>
      <p:pic>
        <p:nvPicPr>
          <p:cNvPr id="90" name="Google Shape;90;p1"/>
          <p:cNvPicPr preferRelativeResize="0"/>
          <p:nvPr/>
        </p:nvPicPr>
        <p:blipFill>
          <a:blip r:embed="rId3">
            <a:alphaModFix/>
          </a:blip>
          <a:stretch>
            <a:fillRect/>
          </a:stretch>
        </p:blipFill>
        <p:spPr>
          <a:xfrm>
            <a:off x="3163637" y="2710087"/>
            <a:ext cx="5864724" cy="3631099"/>
          </a:xfrm>
          <a:prstGeom prst="rect">
            <a:avLst/>
          </a:prstGeom>
          <a:noFill/>
          <a:ln>
            <a:noFill/>
          </a:ln>
        </p:spPr>
      </p:pic>
      <p:sp>
        <p:nvSpPr>
          <p:cNvPr id="91" name="Google Shape;91;p1"/>
          <p:cNvSpPr txBox="1">
            <a:spLocks noGrp="1"/>
          </p:cNvSpPr>
          <p:nvPr>
            <p:ph type="title"/>
          </p:nvPr>
        </p:nvSpPr>
        <p:spPr>
          <a:xfrm>
            <a:off x="1523988" y="-524712"/>
            <a:ext cx="9144000" cy="30633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6600"/>
              <a:buFont typeface="Arial"/>
              <a:buNone/>
            </a:pPr>
            <a:r>
              <a:rPr lang="ja-JP" sz="6600" b="1" dirty="0"/>
              <a:t>考察特化SNS</a:t>
            </a:r>
            <a:br>
              <a:rPr lang="ja-JP" sz="6600" b="1" dirty="0"/>
            </a:br>
            <a:r>
              <a:rPr lang="ja-JP" sz="2800" b="1" dirty="0"/>
              <a:t>Consideration-specific  SNS</a:t>
            </a:r>
            <a:endParaRPr sz="6600" b="1" dirty="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
        <p:cNvGrpSpPr/>
        <p:nvPr/>
      </p:nvGrpSpPr>
      <p:grpSpPr>
        <a:xfrm>
          <a:off x="0" y="0"/>
          <a:ext cx="0" cy="0"/>
          <a:chOff x="0" y="0"/>
          <a:chExt cx="0" cy="0"/>
        </a:xfrm>
      </p:grpSpPr>
      <p:sp>
        <p:nvSpPr>
          <p:cNvPr id="97" name="Google Shape;97;p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メイリオ" panose="020B0604030504040204" pitchFamily="50" charset="-128"/>
              <a:ea typeface="メイリオ" panose="020B0604030504040204" pitchFamily="50" charset="-128"/>
              <a:sym typeface="Arial"/>
            </a:endParaRPr>
          </a:p>
        </p:txBody>
      </p:sp>
      <p:sp>
        <p:nvSpPr>
          <p:cNvPr id="98" name="Google Shape;98;p2"/>
          <p:cNvSpPr/>
          <p:nvPr/>
        </p:nvSpPr>
        <p:spPr>
          <a:xfrm flipH="1">
            <a:off x="-3" y="-1"/>
            <a:ext cx="12192000" cy="1590600"/>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メイリオ" panose="020B0604030504040204" pitchFamily="50" charset="-128"/>
              <a:ea typeface="メイリオ" panose="020B0604030504040204" pitchFamily="50" charset="-128"/>
              <a:sym typeface="Arial"/>
            </a:endParaRPr>
          </a:p>
        </p:txBody>
      </p:sp>
      <p:sp>
        <p:nvSpPr>
          <p:cNvPr id="99" name="Google Shape;99;p2"/>
          <p:cNvSpPr txBox="1">
            <a:spLocks noGrp="1"/>
          </p:cNvSpPr>
          <p:nvPr>
            <p:ph type="title"/>
          </p:nvPr>
        </p:nvSpPr>
        <p:spPr>
          <a:xfrm>
            <a:off x="598714" y="459352"/>
            <a:ext cx="9896100" cy="1033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コンセプト</a:t>
            </a:r>
            <a:endParaRPr sz="5400" dirty="0">
              <a:solidFill>
                <a:srgbClr val="FFFFFF"/>
              </a:solidFill>
            </a:endParaRPr>
          </a:p>
        </p:txBody>
      </p:sp>
      <p:sp>
        <p:nvSpPr>
          <p:cNvPr id="100" name="Google Shape;100;p2"/>
          <p:cNvSpPr txBox="1">
            <a:spLocks noGrp="1"/>
          </p:cNvSpPr>
          <p:nvPr>
            <p:ph type="body" idx="1"/>
          </p:nvPr>
        </p:nvSpPr>
        <p:spPr>
          <a:xfrm>
            <a:off x="702675" y="2160993"/>
            <a:ext cx="11008500" cy="3683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Clr>
                <a:srgbClr val="1F5C99"/>
              </a:buClr>
              <a:buSzPts val="6000"/>
              <a:buNone/>
            </a:pPr>
            <a:r>
              <a:rPr lang="ja-JP" sz="6000" dirty="0">
                <a:solidFill>
                  <a:srgbClr val="6AA84F"/>
                </a:solidFill>
              </a:rPr>
              <a:t>ネタバレを気にせず</a:t>
            </a:r>
            <a:endParaRPr sz="6000" dirty="0">
              <a:solidFill>
                <a:srgbClr val="6AA84F"/>
              </a:solidFill>
            </a:endParaRPr>
          </a:p>
          <a:p>
            <a:pPr marL="0" lvl="0" indent="0" algn="ctr" rtl="0">
              <a:spcBef>
                <a:spcPts val="0"/>
              </a:spcBef>
              <a:spcAft>
                <a:spcPts val="0"/>
              </a:spcAft>
              <a:buClr>
                <a:srgbClr val="1F5C99"/>
              </a:buClr>
              <a:buSzPts val="6000"/>
              <a:buNone/>
            </a:pPr>
            <a:r>
              <a:rPr lang="ja-JP" sz="6000" dirty="0">
                <a:solidFill>
                  <a:srgbClr val="6AA84F"/>
                </a:solidFill>
              </a:rPr>
              <a:t>感想や考察を投稿できるSNS</a:t>
            </a:r>
            <a:endParaRPr sz="6000" dirty="0">
              <a:solidFill>
                <a:srgbClr val="6AA84F"/>
              </a:solidFill>
            </a:endParaRPr>
          </a:p>
          <a:p>
            <a:pPr marL="0" lvl="0" indent="0" algn="ctr" rtl="0">
              <a:spcBef>
                <a:spcPts val="1000"/>
              </a:spcBef>
              <a:spcAft>
                <a:spcPts val="0"/>
              </a:spcAft>
              <a:buNone/>
            </a:pPr>
            <a:endParaRPr sz="3200" dirty="0">
              <a:solidFill>
                <a:srgbClr val="1F5C9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
        <p:cNvGrpSpPr/>
        <p:nvPr/>
      </p:nvGrpSpPr>
      <p:grpSpPr>
        <a:xfrm>
          <a:off x="0" y="0"/>
          <a:ext cx="0" cy="0"/>
          <a:chOff x="0" y="0"/>
          <a:chExt cx="0" cy="0"/>
        </a:xfrm>
      </p:grpSpPr>
      <p:sp>
        <p:nvSpPr>
          <p:cNvPr id="106" name="Google Shape;106;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メイリオ" panose="020B0604030504040204" pitchFamily="50" charset="-128"/>
              <a:ea typeface="メイリオ" panose="020B0604030504040204" pitchFamily="50" charset="-128"/>
              <a:sym typeface="Arial"/>
            </a:endParaRPr>
          </a:p>
        </p:txBody>
      </p:sp>
      <p:sp>
        <p:nvSpPr>
          <p:cNvPr id="107" name="Google Shape;107;p3"/>
          <p:cNvSpPr/>
          <p:nvPr/>
        </p:nvSpPr>
        <p:spPr>
          <a:xfrm flipH="1">
            <a:off x="-1" y="-1"/>
            <a:ext cx="12191998" cy="1590742"/>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メイリオ" panose="020B0604030504040204" pitchFamily="50" charset="-128"/>
              <a:ea typeface="メイリオ" panose="020B0604030504040204" pitchFamily="50" charset="-128"/>
              <a:sym typeface="Arial"/>
            </a:endParaRPr>
          </a:p>
        </p:txBody>
      </p:sp>
      <p:sp>
        <p:nvSpPr>
          <p:cNvPr id="108" name="Google Shape;108;p3"/>
          <p:cNvSpPr/>
          <p:nvPr/>
        </p:nvSpPr>
        <p:spPr>
          <a:xfrm rot="10800000" flipH="1">
            <a:off x="-3" y="0"/>
            <a:ext cx="8115306" cy="1590742"/>
          </a:xfrm>
          <a:prstGeom prst="rect">
            <a:avLst/>
          </a:prstGeom>
          <a:gradFill>
            <a:gsLst>
              <a:gs pos="0">
                <a:srgbClr val="156082">
                  <a:alpha val="0"/>
                </a:srgbClr>
              </a:gs>
              <a:gs pos="20000">
                <a:srgbClr val="156082">
                  <a:alpha val="0"/>
                </a:srgbClr>
              </a:gs>
              <a:gs pos="100000">
                <a:srgbClr val="0A3041">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メイリオ" panose="020B0604030504040204" pitchFamily="50" charset="-128"/>
              <a:ea typeface="メイリオ" panose="020B0604030504040204" pitchFamily="50" charset="-128"/>
              <a:sym typeface="Arial"/>
            </a:endParaRPr>
          </a:p>
        </p:txBody>
      </p:sp>
      <p:sp>
        <p:nvSpPr>
          <p:cNvPr id="109" name="Google Shape;109;p3"/>
          <p:cNvSpPr txBox="1">
            <a:spLocks noGrp="1"/>
          </p:cNvSpPr>
          <p:nvPr>
            <p:ph type="title"/>
          </p:nvPr>
        </p:nvSpPr>
        <p:spPr>
          <a:xfrm>
            <a:off x="598714" y="459352"/>
            <a:ext cx="9895951"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背景</a:t>
            </a:r>
            <a:endParaRPr sz="5400" dirty="0">
              <a:solidFill>
                <a:srgbClr val="FFFFFF"/>
              </a:solidFill>
            </a:endParaRPr>
          </a:p>
        </p:txBody>
      </p:sp>
      <p:sp>
        <p:nvSpPr>
          <p:cNvPr id="110" name="Google Shape;110;p3"/>
          <p:cNvSpPr txBox="1">
            <a:spLocks noGrp="1"/>
          </p:cNvSpPr>
          <p:nvPr>
            <p:ph type="body" idx="1"/>
          </p:nvPr>
        </p:nvSpPr>
        <p:spPr>
          <a:xfrm>
            <a:off x="-2307232" y="2075179"/>
            <a:ext cx="11732700" cy="5445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None/>
            </a:pPr>
            <a:r>
              <a:rPr lang="ja-JP" b="1" u="sng" dirty="0"/>
              <a:t>考察ブーム</a:t>
            </a:r>
            <a:r>
              <a:rPr lang="ja-JP" sz="1600" u="sng" dirty="0"/>
              <a:t>(漫画・ドラマ・アニメなど)</a:t>
            </a:r>
            <a:endParaRPr dirty="0"/>
          </a:p>
          <a:p>
            <a:pPr marL="0" lvl="0" indent="0" algn="ctr" rtl="0">
              <a:lnSpc>
                <a:spcPct val="90000"/>
              </a:lnSpc>
              <a:spcBef>
                <a:spcPts val="1000"/>
              </a:spcBef>
              <a:spcAft>
                <a:spcPts val="0"/>
              </a:spcAft>
              <a:buClr>
                <a:schemeClr val="dk1"/>
              </a:buClr>
              <a:buSzPts val="2400"/>
              <a:buNone/>
            </a:pPr>
            <a:endParaRPr sz="2400" dirty="0"/>
          </a:p>
          <a:p>
            <a:pPr marL="0" lvl="0" indent="0" algn="ctr" rtl="0">
              <a:lnSpc>
                <a:spcPct val="90000"/>
              </a:lnSpc>
              <a:spcBef>
                <a:spcPts val="1000"/>
              </a:spcBef>
              <a:spcAft>
                <a:spcPts val="0"/>
              </a:spcAft>
              <a:buClr>
                <a:schemeClr val="dk1"/>
              </a:buClr>
              <a:buSzPts val="2400"/>
              <a:buNone/>
            </a:pPr>
            <a:r>
              <a:rPr lang="ja-JP" sz="2400" dirty="0"/>
              <a:t>SNS上での考察が盛り上がる</a:t>
            </a:r>
            <a:endParaRPr sz="2400" dirty="0"/>
          </a:p>
          <a:p>
            <a:pPr marL="0" lvl="0" indent="0" algn="ctr" rtl="0">
              <a:lnSpc>
                <a:spcPct val="90000"/>
              </a:lnSpc>
              <a:spcBef>
                <a:spcPts val="1000"/>
              </a:spcBef>
              <a:spcAft>
                <a:spcPts val="0"/>
              </a:spcAft>
              <a:buClr>
                <a:schemeClr val="dk1"/>
              </a:buClr>
              <a:buSzPts val="2400"/>
              <a:buNone/>
            </a:pPr>
            <a:r>
              <a:rPr lang="ja-JP" sz="1900" dirty="0"/>
              <a:t>考察をして盛り上がる</a:t>
            </a:r>
            <a:endParaRPr sz="1900" dirty="0"/>
          </a:p>
          <a:p>
            <a:pPr marL="0" lvl="0" indent="0" algn="ctr" rtl="0">
              <a:lnSpc>
                <a:spcPct val="90000"/>
              </a:lnSpc>
              <a:spcBef>
                <a:spcPts val="1000"/>
              </a:spcBef>
              <a:spcAft>
                <a:spcPts val="0"/>
              </a:spcAft>
              <a:buClr>
                <a:schemeClr val="dk1"/>
              </a:buClr>
              <a:buSzPts val="2400"/>
              <a:buNone/>
            </a:pPr>
            <a:r>
              <a:rPr lang="ja-JP" sz="1900" dirty="0"/>
              <a:t>感想を見て楽しむ</a:t>
            </a:r>
            <a:endParaRPr sz="1900" dirty="0"/>
          </a:p>
          <a:p>
            <a:pPr marL="0" lvl="0" indent="0" algn="ctr" rtl="0">
              <a:lnSpc>
                <a:spcPct val="90000"/>
              </a:lnSpc>
              <a:spcBef>
                <a:spcPts val="1000"/>
              </a:spcBef>
              <a:spcAft>
                <a:spcPts val="0"/>
              </a:spcAft>
              <a:buClr>
                <a:schemeClr val="dk1"/>
              </a:buClr>
              <a:buSzPts val="2800"/>
              <a:buNone/>
            </a:pPr>
            <a:endParaRPr dirty="0"/>
          </a:p>
          <a:p>
            <a:pPr marL="0" lvl="0" indent="0" algn="ctr" rtl="0">
              <a:lnSpc>
                <a:spcPct val="90000"/>
              </a:lnSpc>
              <a:spcBef>
                <a:spcPts val="1000"/>
              </a:spcBef>
              <a:spcAft>
                <a:spcPts val="0"/>
              </a:spcAft>
              <a:buClr>
                <a:schemeClr val="dk1"/>
              </a:buClr>
              <a:buSzPts val="2400"/>
              <a:buNone/>
            </a:pPr>
            <a:endParaRPr sz="2400" dirty="0"/>
          </a:p>
          <a:p>
            <a:pPr marL="0" lvl="0" indent="0" algn="ctr" rtl="0">
              <a:lnSpc>
                <a:spcPct val="90000"/>
              </a:lnSpc>
              <a:spcBef>
                <a:spcPts val="1000"/>
              </a:spcBef>
              <a:spcAft>
                <a:spcPts val="0"/>
              </a:spcAft>
              <a:buClr>
                <a:schemeClr val="dk1"/>
              </a:buClr>
              <a:buSzPts val="2400"/>
              <a:buNone/>
            </a:pPr>
            <a:r>
              <a:rPr lang="ja-JP" sz="2400" dirty="0"/>
              <a:t>意図せずネタバレを喰らう</a:t>
            </a:r>
            <a:endParaRPr sz="2400" dirty="0"/>
          </a:p>
          <a:p>
            <a:pPr marL="0" lvl="0" indent="0" algn="ctr" rtl="0">
              <a:lnSpc>
                <a:spcPct val="90000"/>
              </a:lnSpc>
              <a:spcBef>
                <a:spcPts val="1000"/>
              </a:spcBef>
              <a:spcAft>
                <a:spcPts val="0"/>
              </a:spcAft>
              <a:buClr>
                <a:schemeClr val="dk1"/>
              </a:buClr>
              <a:buSzPts val="2800"/>
              <a:buNone/>
            </a:pPr>
            <a:endParaRPr dirty="0"/>
          </a:p>
          <a:p>
            <a:pPr marL="0" lvl="0" indent="0" algn="ctr" rtl="0">
              <a:lnSpc>
                <a:spcPct val="90000"/>
              </a:lnSpc>
              <a:spcBef>
                <a:spcPts val="1000"/>
              </a:spcBef>
              <a:spcAft>
                <a:spcPts val="0"/>
              </a:spcAft>
              <a:buClr>
                <a:srgbClr val="1F5C99"/>
              </a:buClr>
              <a:buSzPts val="2800"/>
              <a:buNone/>
            </a:pPr>
            <a:r>
              <a:rPr lang="ja-JP" dirty="0">
                <a:solidFill>
                  <a:srgbClr val="6AA84F"/>
                </a:solidFill>
              </a:rPr>
              <a:t>「ネタバレを防ぐ」＋「考察が盛り上がる」</a:t>
            </a:r>
            <a:endParaRPr dirty="0">
              <a:solidFill>
                <a:srgbClr val="6AA84F"/>
              </a:solidFill>
            </a:endParaRPr>
          </a:p>
          <a:p>
            <a:pPr marL="0" lvl="0" indent="0" algn="l" rtl="0">
              <a:lnSpc>
                <a:spcPct val="90000"/>
              </a:lnSpc>
              <a:spcBef>
                <a:spcPts val="1000"/>
              </a:spcBef>
              <a:spcAft>
                <a:spcPts val="0"/>
              </a:spcAft>
              <a:buClr>
                <a:schemeClr val="dk1"/>
              </a:buClr>
              <a:buSzPts val="4000"/>
              <a:buNone/>
            </a:pPr>
            <a:endParaRPr sz="4000" dirty="0"/>
          </a:p>
        </p:txBody>
      </p:sp>
      <p:sp>
        <p:nvSpPr>
          <p:cNvPr id="111" name="Google Shape;111;p3"/>
          <p:cNvSpPr/>
          <p:nvPr/>
        </p:nvSpPr>
        <p:spPr>
          <a:xfrm>
            <a:off x="3165736" y="4534715"/>
            <a:ext cx="262200" cy="526500"/>
          </a:xfrm>
          <a:prstGeom prst="upDownArrow">
            <a:avLst>
              <a:gd name="adj1" fmla="val 50000"/>
              <a:gd name="adj2" fmla="val 50000"/>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メイリオ" panose="020B0604030504040204" pitchFamily="50" charset="-128"/>
              <a:ea typeface="メイリオ" panose="020B0604030504040204" pitchFamily="50" charset="-128"/>
              <a:sym typeface="Arial"/>
            </a:endParaRPr>
          </a:p>
        </p:txBody>
      </p:sp>
      <p:sp>
        <p:nvSpPr>
          <p:cNvPr id="112" name="Google Shape;112;p3"/>
          <p:cNvSpPr txBox="1"/>
          <p:nvPr/>
        </p:nvSpPr>
        <p:spPr>
          <a:xfrm>
            <a:off x="3682734" y="1887303"/>
            <a:ext cx="11223000" cy="54456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dk1"/>
              </a:buClr>
              <a:buSzPts val="2800"/>
              <a:buFont typeface="Arial"/>
              <a:buNone/>
            </a:pPr>
            <a:r>
              <a:rPr lang="ja-JP" sz="2800" b="1" i="0" u="sng" strike="noStrike" cap="none" dirty="0">
                <a:solidFill>
                  <a:schemeClr val="dk1"/>
                </a:solidFill>
                <a:latin typeface="メイリオ" panose="020B0604030504040204" pitchFamily="50" charset="-128"/>
                <a:ea typeface="メイリオ" panose="020B0604030504040204" pitchFamily="50" charset="-128"/>
                <a:sym typeface="Arial"/>
              </a:rPr>
              <a:t>Discussion Boom</a:t>
            </a:r>
            <a:r>
              <a:rPr lang="ja-JP" sz="1600" b="0" i="0" u="sng" strike="noStrike" cap="none" dirty="0">
                <a:solidFill>
                  <a:schemeClr val="dk1"/>
                </a:solidFill>
                <a:latin typeface="メイリオ" panose="020B0604030504040204" pitchFamily="50" charset="-128"/>
                <a:ea typeface="メイリオ" panose="020B0604030504040204" pitchFamily="50" charset="-128"/>
                <a:sym typeface="Arial"/>
              </a:rPr>
              <a:t>(comic, animation…)</a:t>
            </a:r>
            <a:endParaRPr dirty="0">
              <a:latin typeface="メイリオ" panose="020B0604030504040204" pitchFamily="50" charset="-128"/>
              <a:ea typeface="メイリオ" panose="020B0604030504040204" pitchFamily="50" charset="-128"/>
            </a:endParaRPr>
          </a:p>
          <a:p>
            <a:pPr marL="0" marR="0" lvl="0" indent="0" algn="ctr" rtl="0">
              <a:lnSpc>
                <a:spcPct val="90000"/>
              </a:lnSpc>
              <a:spcBef>
                <a:spcPts val="1000"/>
              </a:spcBef>
              <a:spcAft>
                <a:spcPts val="0"/>
              </a:spcAft>
              <a:buClr>
                <a:schemeClr val="dk1"/>
              </a:buClr>
              <a:buSzPts val="2400"/>
              <a:buFont typeface="Arial"/>
              <a:buNone/>
            </a:pPr>
            <a:endParaRPr sz="2400" b="0" i="0" u="none" strike="noStrike" cap="none" dirty="0">
              <a:solidFill>
                <a:schemeClr val="dk1"/>
              </a:solidFill>
              <a:latin typeface="メイリオ" panose="020B0604030504040204" pitchFamily="50" charset="-128"/>
              <a:ea typeface="メイリオ" panose="020B0604030504040204" pitchFamily="50" charset="-128"/>
              <a:sym typeface="Arial"/>
            </a:endParaRPr>
          </a:p>
          <a:p>
            <a:pPr marL="0" marR="0" lvl="0" indent="0" algn="ctr" rtl="0">
              <a:lnSpc>
                <a:spcPct val="90000"/>
              </a:lnSpc>
              <a:spcBef>
                <a:spcPts val="1000"/>
              </a:spcBef>
              <a:spcAft>
                <a:spcPts val="0"/>
              </a:spcAft>
              <a:buClr>
                <a:schemeClr val="dk1"/>
              </a:buClr>
              <a:buSzPts val="2400"/>
              <a:buFont typeface="Arial"/>
              <a:buNone/>
            </a:pPr>
            <a:r>
              <a:rPr lang="ja-JP" sz="2400" b="0" i="0" u="none" strike="noStrike" cap="none" dirty="0">
                <a:solidFill>
                  <a:schemeClr val="dk1"/>
                </a:solidFill>
                <a:latin typeface="メイリオ" panose="020B0604030504040204" pitchFamily="50" charset="-128"/>
                <a:ea typeface="メイリオ" panose="020B0604030504040204" pitchFamily="50" charset="-128"/>
                <a:sym typeface="Arial"/>
              </a:rPr>
              <a:t>The discussion will be lively on SNS</a:t>
            </a:r>
            <a:endParaRPr dirty="0">
              <a:latin typeface="メイリオ" panose="020B0604030504040204" pitchFamily="50" charset="-128"/>
              <a:ea typeface="メイリオ" panose="020B0604030504040204" pitchFamily="50" charset="-128"/>
            </a:endParaRPr>
          </a:p>
          <a:p>
            <a:pPr marL="0" marR="0" lvl="0" indent="0" algn="ctr" rtl="0">
              <a:lnSpc>
                <a:spcPct val="90000"/>
              </a:lnSpc>
              <a:spcBef>
                <a:spcPts val="1000"/>
              </a:spcBef>
              <a:spcAft>
                <a:spcPts val="0"/>
              </a:spcAft>
              <a:buClr>
                <a:schemeClr val="dk1"/>
              </a:buClr>
              <a:buSzPts val="2800"/>
              <a:buFont typeface="Arial"/>
              <a:buNone/>
            </a:pPr>
            <a:endParaRPr sz="2800" b="0" i="0" u="none" strike="noStrike" cap="none" dirty="0">
              <a:solidFill>
                <a:schemeClr val="dk1"/>
              </a:solidFill>
              <a:latin typeface="メイリオ" panose="020B0604030504040204" pitchFamily="50" charset="-128"/>
              <a:ea typeface="メイリオ" panose="020B0604030504040204" pitchFamily="50" charset="-128"/>
              <a:sym typeface="Arial"/>
            </a:endParaRPr>
          </a:p>
          <a:p>
            <a:pPr marL="0" marR="0" lvl="0" indent="0" algn="ctr" rtl="0">
              <a:lnSpc>
                <a:spcPct val="90000"/>
              </a:lnSpc>
              <a:spcBef>
                <a:spcPts val="1000"/>
              </a:spcBef>
              <a:spcAft>
                <a:spcPts val="0"/>
              </a:spcAft>
              <a:buClr>
                <a:schemeClr val="dk1"/>
              </a:buClr>
              <a:buSzPts val="2400"/>
              <a:buFont typeface="Arial"/>
              <a:buNone/>
            </a:pPr>
            <a:r>
              <a:rPr lang="ja-JP" sz="2400" b="0" i="0" u="none" strike="noStrike" cap="none" dirty="0">
                <a:solidFill>
                  <a:schemeClr val="dk1"/>
                </a:solidFill>
                <a:latin typeface="メイリオ" panose="020B0604030504040204" pitchFamily="50" charset="-128"/>
                <a:ea typeface="メイリオ" panose="020B0604030504040204" pitchFamily="50" charset="-128"/>
                <a:sym typeface="Arial"/>
              </a:rPr>
              <a:t>Unintentionally spoiled.</a:t>
            </a:r>
            <a:endParaRPr sz="2800" b="0" i="0" u="none" strike="noStrike" cap="none" dirty="0">
              <a:solidFill>
                <a:schemeClr val="dk1"/>
              </a:solidFill>
              <a:latin typeface="メイリオ" panose="020B0604030504040204" pitchFamily="50" charset="-128"/>
              <a:ea typeface="メイリオ" panose="020B0604030504040204" pitchFamily="50" charset="-128"/>
              <a:sym typeface="Arial"/>
            </a:endParaRPr>
          </a:p>
          <a:p>
            <a:pPr marL="0" marR="0" lvl="0" indent="0" algn="ctr" rtl="0">
              <a:lnSpc>
                <a:spcPct val="90000"/>
              </a:lnSpc>
              <a:spcBef>
                <a:spcPts val="1000"/>
              </a:spcBef>
              <a:spcAft>
                <a:spcPts val="0"/>
              </a:spcAft>
              <a:buClr>
                <a:schemeClr val="dk1"/>
              </a:buClr>
              <a:buSzPts val="2400"/>
              <a:buFont typeface="Arial"/>
              <a:buNone/>
            </a:pPr>
            <a:endParaRPr sz="2400" b="0" i="0" u="none" strike="noStrike" cap="none" dirty="0">
              <a:solidFill>
                <a:srgbClr val="1F5C99"/>
              </a:solidFill>
              <a:latin typeface="メイリオ" panose="020B0604030504040204" pitchFamily="50" charset="-128"/>
              <a:ea typeface="メイリオ" panose="020B0604030504040204" pitchFamily="50" charset="-128"/>
              <a:sym typeface="Arial"/>
            </a:endParaRPr>
          </a:p>
          <a:p>
            <a:pPr marL="0" marR="0" lvl="0" indent="0" algn="ctr" rtl="0">
              <a:lnSpc>
                <a:spcPct val="90000"/>
              </a:lnSpc>
              <a:spcBef>
                <a:spcPts val="1000"/>
              </a:spcBef>
              <a:spcAft>
                <a:spcPts val="0"/>
              </a:spcAft>
              <a:buClr>
                <a:srgbClr val="1F5C99"/>
              </a:buClr>
              <a:buSzPts val="2400"/>
              <a:buFont typeface="Arial"/>
              <a:buNone/>
            </a:pPr>
            <a:r>
              <a:rPr lang="ja-JP" sz="2400" b="0" i="0" u="none" strike="noStrike" cap="none" dirty="0">
                <a:solidFill>
                  <a:srgbClr val="6AA84F"/>
                </a:solidFill>
                <a:latin typeface="メイリオ" panose="020B0604030504040204" pitchFamily="50" charset="-128"/>
                <a:ea typeface="メイリオ" panose="020B0604030504040204" pitchFamily="50" charset="-128"/>
                <a:sym typeface="Arial"/>
              </a:rPr>
              <a:t>「Prevent spoilers」</a:t>
            </a:r>
            <a:endParaRPr sz="2400" b="0" i="0" u="none" strike="noStrike" cap="none" dirty="0">
              <a:solidFill>
                <a:srgbClr val="6AA84F"/>
              </a:solidFill>
              <a:latin typeface="メイリオ" panose="020B0604030504040204" pitchFamily="50" charset="-128"/>
              <a:ea typeface="メイリオ" panose="020B0604030504040204" pitchFamily="50" charset="-128"/>
              <a:sym typeface="Arial"/>
            </a:endParaRPr>
          </a:p>
          <a:p>
            <a:pPr marL="0" marR="0" lvl="0" indent="0" algn="ctr" rtl="0">
              <a:lnSpc>
                <a:spcPct val="90000"/>
              </a:lnSpc>
              <a:spcBef>
                <a:spcPts val="1000"/>
              </a:spcBef>
              <a:spcAft>
                <a:spcPts val="0"/>
              </a:spcAft>
              <a:buClr>
                <a:srgbClr val="1F5C99"/>
              </a:buClr>
              <a:buSzPts val="2400"/>
              <a:buFont typeface="Arial"/>
              <a:buNone/>
            </a:pPr>
            <a:r>
              <a:rPr lang="ja-JP" sz="2400" b="0" i="0" u="none" strike="noStrike" cap="none" dirty="0">
                <a:solidFill>
                  <a:srgbClr val="6AA84F"/>
                </a:solidFill>
                <a:latin typeface="メイリオ" panose="020B0604030504040204" pitchFamily="50" charset="-128"/>
                <a:ea typeface="メイリオ" panose="020B0604030504040204" pitchFamily="50" charset="-128"/>
                <a:sym typeface="Arial"/>
              </a:rPr>
              <a:t>＋</a:t>
            </a:r>
            <a:endParaRPr sz="2400" b="0" i="0" u="none" strike="noStrike" cap="none" dirty="0">
              <a:solidFill>
                <a:srgbClr val="6AA84F"/>
              </a:solidFill>
              <a:latin typeface="メイリオ" panose="020B0604030504040204" pitchFamily="50" charset="-128"/>
              <a:ea typeface="メイリオ" panose="020B0604030504040204" pitchFamily="50" charset="-128"/>
              <a:sym typeface="Arial"/>
            </a:endParaRPr>
          </a:p>
          <a:p>
            <a:pPr marL="0" marR="0" lvl="0" indent="0" algn="ctr" rtl="0">
              <a:lnSpc>
                <a:spcPct val="90000"/>
              </a:lnSpc>
              <a:spcBef>
                <a:spcPts val="1000"/>
              </a:spcBef>
              <a:spcAft>
                <a:spcPts val="0"/>
              </a:spcAft>
              <a:buClr>
                <a:srgbClr val="1F5C99"/>
              </a:buClr>
              <a:buSzPts val="2400"/>
              <a:buFont typeface="Arial"/>
              <a:buNone/>
            </a:pPr>
            <a:r>
              <a:rPr lang="ja-JP" sz="2400" b="0" i="0" u="none" strike="noStrike" cap="none" dirty="0">
                <a:solidFill>
                  <a:srgbClr val="6AA84F"/>
                </a:solidFill>
                <a:latin typeface="メイリオ" panose="020B0604030504040204" pitchFamily="50" charset="-128"/>
                <a:ea typeface="メイリオ" panose="020B0604030504040204" pitchFamily="50" charset="-128"/>
                <a:sym typeface="Arial"/>
              </a:rPr>
              <a:t>「 The discussion will be lively 」</a:t>
            </a:r>
            <a:endParaRPr sz="2400" b="0" i="0" u="none" strike="noStrike" cap="none" dirty="0">
              <a:solidFill>
                <a:srgbClr val="6AA84F"/>
              </a:solidFill>
              <a:latin typeface="メイリオ" panose="020B0604030504040204" pitchFamily="50" charset="-128"/>
              <a:ea typeface="メイリオ" panose="020B0604030504040204" pitchFamily="50" charset="-128"/>
              <a:sym typeface="Arial"/>
            </a:endParaRPr>
          </a:p>
          <a:p>
            <a:pPr marL="0" marR="0" lvl="0" indent="0" algn="l" rtl="0">
              <a:lnSpc>
                <a:spcPct val="90000"/>
              </a:lnSpc>
              <a:spcBef>
                <a:spcPts val="1000"/>
              </a:spcBef>
              <a:spcAft>
                <a:spcPts val="0"/>
              </a:spcAft>
              <a:buClr>
                <a:schemeClr val="dk1"/>
              </a:buClr>
              <a:buSzPts val="4000"/>
              <a:buFont typeface="Arial"/>
              <a:buNone/>
            </a:pPr>
            <a:endParaRPr sz="4000" b="0" i="0" u="none" strike="noStrike" cap="none" dirty="0">
              <a:solidFill>
                <a:schemeClr val="dk1"/>
              </a:solidFill>
              <a:latin typeface="メイリオ" panose="020B0604030504040204" pitchFamily="50" charset="-128"/>
              <a:ea typeface="メイリオ" panose="020B0604030504040204" pitchFamily="50" charset="-128"/>
              <a:sym typeface="Arial"/>
            </a:endParaRPr>
          </a:p>
        </p:txBody>
      </p:sp>
      <p:sp>
        <p:nvSpPr>
          <p:cNvPr id="113" name="Google Shape;113;p3"/>
          <p:cNvSpPr/>
          <p:nvPr/>
        </p:nvSpPr>
        <p:spPr>
          <a:xfrm>
            <a:off x="9163128" y="3516240"/>
            <a:ext cx="262200" cy="526500"/>
          </a:xfrm>
          <a:prstGeom prst="upDownArrow">
            <a:avLst>
              <a:gd name="adj1" fmla="val 50000"/>
              <a:gd name="adj2" fmla="val 50000"/>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メイリオ" panose="020B0604030504040204" pitchFamily="50" charset="-128"/>
              <a:ea typeface="メイリオ" panose="020B0604030504040204" pitchFamily="50" charset="-128"/>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p:cNvGrpSpPr/>
        <p:nvPr/>
      </p:nvGrpSpPr>
      <p:grpSpPr>
        <a:xfrm>
          <a:off x="0" y="0"/>
          <a:ext cx="0" cy="0"/>
          <a:chOff x="0" y="0"/>
          <a:chExt cx="0" cy="0"/>
        </a:xfrm>
      </p:grpSpPr>
      <p:sp>
        <p:nvSpPr>
          <p:cNvPr id="118" name="Google Shape;118;p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19" name="Google Shape;119;p8"/>
          <p:cNvSpPr/>
          <p:nvPr/>
        </p:nvSpPr>
        <p:spPr>
          <a:xfrm flipH="1">
            <a:off x="-1" y="-1"/>
            <a:ext cx="12191998" cy="1590742"/>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20" name="Google Shape;120;p8"/>
          <p:cNvSpPr/>
          <p:nvPr/>
        </p:nvSpPr>
        <p:spPr>
          <a:xfrm rot="10800000" flipH="1">
            <a:off x="-3" y="0"/>
            <a:ext cx="8115306" cy="1590742"/>
          </a:xfrm>
          <a:prstGeom prst="rect">
            <a:avLst/>
          </a:prstGeom>
          <a:gradFill>
            <a:gsLst>
              <a:gs pos="0">
                <a:srgbClr val="156082">
                  <a:alpha val="0"/>
                </a:srgbClr>
              </a:gs>
              <a:gs pos="20000">
                <a:srgbClr val="156082">
                  <a:alpha val="0"/>
                </a:srgbClr>
              </a:gs>
              <a:gs pos="100000">
                <a:srgbClr val="0A3041">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21" name="Google Shape;121;p8"/>
          <p:cNvSpPr txBox="1">
            <a:spLocks noGrp="1"/>
          </p:cNvSpPr>
          <p:nvPr>
            <p:ph type="title"/>
          </p:nvPr>
        </p:nvSpPr>
        <p:spPr>
          <a:xfrm>
            <a:off x="598714" y="459352"/>
            <a:ext cx="9895951"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リーンキャンパス</a:t>
            </a:r>
            <a:endParaRPr sz="5400" dirty="0">
              <a:solidFill>
                <a:srgbClr val="FFFFFF"/>
              </a:solidFill>
            </a:endParaRPr>
          </a:p>
        </p:txBody>
      </p:sp>
      <p:pic>
        <p:nvPicPr>
          <p:cNvPr id="122" name="Google Shape;122;p8"/>
          <p:cNvPicPr preferRelativeResize="0"/>
          <p:nvPr/>
        </p:nvPicPr>
        <p:blipFill rotWithShape="1">
          <a:blip r:embed="rId3">
            <a:alphaModFix/>
          </a:blip>
          <a:srcRect/>
          <a:stretch/>
        </p:blipFill>
        <p:spPr>
          <a:xfrm>
            <a:off x="1257452" y="1597432"/>
            <a:ext cx="9896838" cy="5170404"/>
          </a:xfrm>
          <a:prstGeom prst="rect">
            <a:avLst/>
          </a:prstGeom>
          <a:noFill/>
          <a:ln>
            <a:noFill/>
          </a:ln>
        </p:spPr>
      </p:pic>
      <p:sp>
        <p:nvSpPr>
          <p:cNvPr id="123" name="Google Shape;123;p8"/>
          <p:cNvSpPr txBox="1"/>
          <p:nvPr/>
        </p:nvSpPr>
        <p:spPr>
          <a:xfrm>
            <a:off x="6689100" y="6336725"/>
            <a:ext cx="9625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sz="1100" dirty="0">
                <a:solidFill>
                  <a:schemeClr val="dk1"/>
                </a:solidFill>
                <a:latin typeface="メイリオ" panose="020B0604030504040204" pitchFamily="50" charset="-128"/>
                <a:ea typeface="メイリオ" panose="020B0604030504040204" pitchFamily="50" charset="-128"/>
              </a:rPr>
              <a:t>広告</a:t>
            </a:r>
            <a:endParaRPr sz="1100" dirty="0">
              <a:solidFill>
                <a:schemeClr val="dk1"/>
              </a:solidFill>
              <a:latin typeface="メイリオ" panose="020B0604030504040204" pitchFamily="50" charset="-128"/>
              <a:ea typeface="メイリオ" panose="020B0604030504040204" pitchFamily="50" charset="-128"/>
            </a:endParaRPr>
          </a:p>
        </p:txBody>
      </p:sp>
      <p:sp>
        <p:nvSpPr>
          <p:cNvPr id="124" name="Google Shape;124;p8"/>
          <p:cNvSpPr txBox="1"/>
          <p:nvPr/>
        </p:nvSpPr>
        <p:spPr>
          <a:xfrm>
            <a:off x="7376225" y="2979925"/>
            <a:ext cx="9625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sz="1100" dirty="0">
                <a:solidFill>
                  <a:srgbClr val="0D0D0D"/>
                </a:solidFill>
                <a:latin typeface="メイリオ" panose="020B0604030504040204" pitchFamily="50" charset="-128"/>
                <a:ea typeface="メイリオ" panose="020B0604030504040204" pitchFamily="50" charset="-128"/>
              </a:rPr>
              <a:t>古い考察の保持</a:t>
            </a:r>
            <a:endParaRPr sz="1100" dirty="0">
              <a:solidFill>
                <a:srgbClr val="0D0D0D"/>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8"/>
        <p:cNvGrpSpPr/>
        <p:nvPr/>
      </p:nvGrpSpPr>
      <p:grpSpPr>
        <a:xfrm>
          <a:off x="0" y="0"/>
          <a:ext cx="0" cy="0"/>
          <a:chOff x="0" y="0"/>
          <a:chExt cx="0" cy="0"/>
        </a:xfrm>
      </p:grpSpPr>
      <p:sp>
        <p:nvSpPr>
          <p:cNvPr id="129" name="Google Shape;129;g2e99203a0a5_4_3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メイリオ" panose="020B0604030504040204" pitchFamily="50" charset="-128"/>
              <a:ea typeface="メイリオ" panose="020B0604030504040204" pitchFamily="50" charset="-128"/>
              <a:sym typeface="Arial"/>
            </a:endParaRPr>
          </a:p>
        </p:txBody>
      </p:sp>
      <p:sp>
        <p:nvSpPr>
          <p:cNvPr id="130" name="Google Shape;130;g2e99203a0a5_4_32"/>
          <p:cNvSpPr/>
          <p:nvPr/>
        </p:nvSpPr>
        <p:spPr>
          <a:xfrm flipH="1">
            <a:off x="-3" y="-1"/>
            <a:ext cx="12192000" cy="1590600"/>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メイリオ" panose="020B0604030504040204" pitchFamily="50" charset="-128"/>
              <a:ea typeface="メイリオ" panose="020B0604030504040204" pitchFamily="50" charset="-128"/>
              <a:sym typeface="Arial"/>
            </a:endParaRPr>
          </a:p>
        </p:txBody>
      </p:sp>
      <p:sp>
        <p:nvSpPr>
          <p:cNvPr id="131" name="Google Shape;131;g2e99203a0a5_4_32"/>
          <p:cNvSpPr/>
          <p:nvPr/>
        </p:nvSpPr>
        <p:spPr>
          <a:xfrm rot="10800000" flipH="1">
            <a:off x="-3" y="142"/>
            <a:ext cx="8115300" cy="1590600"/>
          </a:xfrm>
          <a:prstGeom prst="rect">
            <a:avLst/>
          </a:prstGeom>
          <a:gradFill>
            <a:gsLst>
              <a:gs pos="0">
                <a:srgbClr val="156082">
                  <a:alpha val="0"/>
                </a:srgbClr>
              </a:gs>
              <a:gs pos="20000">
                <a:srgbClr val="156082">
                  <a:alpha val="0"/>
                </a:srgbClr>
              </a:gs>
              <a:gs pos="100000">
                <a:srgbClr val="0A3041">
                  <a:alpha val="54901"/>
                </a:srgbClr>
              </a:gs>
            </a:gsLst>
            <a:lin ang="1380014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メイリオ" panose="020B0604030504040204" pitchFamily="50" charset="-128"/>
              <a:ea typeface="メイリオ" panose="020B0604030504040204" pitchFamily="50" charset="-128"/>
              <a:sym typeface="Arial"/>
            </a:endParaRPr>
          </a:p>
        </p:txBody>
      </p:sp>
      <p:sp>
        <p:nvSpPr>
          <p:cNvPr id="132" name="Google Shape;132;g2e99203a0a5_4_32"/>
          <p:cNvSpPr txBox="1">
            <a:spLocks noGrp="1"/>
          </p:cNvSpPr>
          <p:nvPr>
            <p:ph type="title"/>
          </p:nvPr>
        </p:nvSpPr>
        <p:spPr>
          <a:xfrm>
            <a:off x="598714" y="459352"/>
            <a:ext cx="9896100" cy="1033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ペルソナ</a:t>
            </a:r>
            <a:endParaRPr sz="5400" dirty="0">
              <a:solidFill>
                <a:srgbClr val="FFFFFF"/>
              </a:solidFill>
            </a:endParaRPr>
          </a:p>
        </p:txBody>
      </p:sp>
      <p:pic>
        <p:nvPicPr>
          <p:cNvPr id="133" name="Google Shape;133;g2e99203a0a5_4_32" descr="男性のプロフィール 枠線"/>
          <p:cNvPicPr preferRelativeResize="0"/>
          <p:nvPr/>
        </p:nvPicPr>
        <p:blipFill rotWithShape="1">
          <a:blip r:embed="rId3">
            <a:alphaModFix/>
          </a:blip>
          <a:srcRect/>
          <a:stretch/>
        </p:blipFill>
        <p:spPr>
          <a:xfrm>
            <a:off x="829819" y="2967305"/>
            <a:ext cx="2317432" cy="2317432"/>
          </a:xfrm>
          <a:prstGeom prst="rect">
            <a:avLst/>
          </a:prstGeom>
          <a:noFill/>
          <a:ln>
            <a:noFill/>
          </a:ln>
        </p:spPr>
      </p:pic>
      <p:sp>
        <p:nvSpPr>
          <p:cNvPr id="134" name="Google Shape;134;g2e99203a0a5_4_32"/>
          <p:cNvSpPr txBox="1"/>
          <p:nvPr/>
        </p:nvSpPr>
        <p:spPr>
          <a:xfrm>
            <a:off x="3157350" y="2476475"/>
            <a:ext cx="3141900" cy="3417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b="1" i="0" u="none" strike="noStrike" cap="none" dirty="0">
                <a:solidFill>
                  <a:schemeClr val="dk1"/>
                </a:solidFill>
                <a:latin typeface="メイリオ" panose="020B0604030504040204" pitchFamily="50" charset="-128"/>
                <a:ea typeface="メイリオ" panose="020B0604030504040204" pitchFamily="50" charset="-128"/>
                <a:sym typeface="Arial"/>
              </a:rPr>
              <a:t>  </a:t>
            </a:r>
            <a:r>
              <a:rPr lang="ja-JP" sz="1800" b="1" dirty="0">
                <a:solidFill>
                  <a:schemeClr val="dk1"/>
                </a:solidFill>
                <a:latin typeface="メイリオ" panose="020B0604030504040204" pitchFamily="50" charset="-128"/>
                <a:ea typeface="メイリオ" panose="020B0604030504040204" pitchFamily="50" charset="-128"/>
              </a:rPr>
              <a:t>21歳　男性</a:t>
            </a: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1800" b="1" dirty="0">
                <a:solidFill>
                  <a:schemeClr val="dk1"/>
                </a:solidFill>
                <a:latin typeface="メイリオ" panose="020B0604030504040204" pitchFamily="50" charset="-128"/>
                <a:ea typeface="メイリオ" panose="020B0604030504040204" pitchFamily="50" charset="-128"/>
              </a:rPr>
              <a:t>毎週末単行本にてキングダムを読み進める</a:t>
            </a: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1800" b="1" dirty="0">
                <a:solidFill>
                  <a:schemeClr val="dk1"/>
                </a:solidFill>
                <a:latin typeface="メイリオ" panose="020B0604030504040204" pitchFamily="50" charset="-128"/>
                <a:ea typeface="メイリオ" panose="020B0604030504040204" pitchFamily="50" charset="-128"/>
              </a:rPr>
              <a:t>毎週月曜ジャンプを購読</a:t>
            </a: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1800" b="1" dirty="0">
                <a:solidFill>
                  <a:schemeClr val="dk1"/>
                </a:solidFill>
                <a:latin typeface="メイリオ" panose="020B0604030504040204" pitchFamily="50" charset="-128"/>
                <a:ea typeface="メイリオ" panose="020B0604030504040204" pitchFamily="50" charset="-128"/>
              </a:rPr>
              <a:t>好きな漫画：ヒロアカ、DeathNote、約束のネバーランド、ワンピース、ハンターハンターなど</a:t>
            </a: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1800" b="1" dirty="0">
              <a:solidFill>
                <a:schemeClr val="dk1"/>
              </a:solidFill>
              <a:latin typeface="メイリオ" panose="020B0604030504040204" pitchFamily="50" charset="-128"/>
              <a:ea typeface="メイリオ" panose="020B0604030504040204" pitchFamily="50" charset="-128"/>
            </a:endParaRPr>
          </a:p>
        </p:txBody>
      </p:sp>
      <p:sp>
        <p:nvSpPr>
          <p:cNvPr id="135" name="Google Shape;135;g2e99203a0a5_4_32"/>
          <p:cNvSpPr txBox="1"/>
          <p:nvPr/>
        </p:nvSpPr>
        <p:spPr>
          <a:xfrm>
            <a:off x="6668475" y="2478600"/>
            <a:ext cx="3141900" cy="2862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b="1" dirty="0">
                <a:solidFill>
                  <a:schemeClr val="dk1"/>
                </a:solidFill>
                <a:latin typeface="メイリオ" panose="020B0604030504040204" pitchFamily="50" charset="-128"/>
                <a:ea typeface="メイリオ" panose="020B0604030504040204" pitchFamily="50" charset="-128"/>
              </a:rPr>
              <a:t>・ネタバレを気にしてXなどでは感想を投稿しづらい</a:t>
            </a: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1800" b="1" dirty="0">
                <a:solidFill>
                  <a:schemeClr val="dk1"/>
                </a:solidFill>
                <a:latin typeface="メイリオ" panose="020B0604030504040204" pitchFamily="50" charset="-128"/>
                <a:ea typeface="メイリオ" panose="020B0604030504040204" pitchFamily="50" charset="-128"/>
              </a:rPr>
              <a:t>・youtubeで考察動画をたまにみる</a:t>
            </a: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1800" b="1" dirty="0">
                <a:solidFill>
                  <a:schemeClr val="dk1"/>
                </a:solidFill>
                <a:latin typeface="メイリオ" panose="020B0604030504040204" pitchFamily="50" charset="-128"/>
                <a:ea typeface="メイリオ" panose="020B0604030504040204" pitchFamily="50" charset="-128"/>
              </a:rPr>
              <a:t>・自分の考察を人に共有したい</a:t>
            </a: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1800" b="1" dirty="0">
                <a:solidFill>
                  <a:schemeClr val="dk1"/>
                </a:solidFill>
                <a:latin typeface="メイリオ" panose="020B0604030504040204" pitchFamily="50" charset="-128"/>
                <a:ea typeface="メイリオ" panose="020B0604030504040204" pitchFamily="50" charset="-128"/>
              </a:rPr>
              <a:t>・読み進めているキングダムの当時の考察を振り返りながら読みたい</a:t>
            </a: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1800" b="1" dirty="0">
              <a:solidFill>
                <a:schemeClr val="dk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9"/>
        <p:cNvGrpSpPr/>
        <p:nvPr/>
      </p:nvGrpSpPr>
      <p:grpSpPr>
        <a:xfrm>
          <a:off x="0" y="0"/>
          <a:ext cx="0" cy="0"/>
          <a:chOff x="0" y="0"/>
          <a:chExt cx="0" cy="0"/>
        </a:xfrm>
      </p:grpSpPr>
      <p:sp>
        <p:nvSpPr>
          <p:cNvPr id="140" name="Google Shape;140;p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41" name="Google Shape;141;p6"/>
          <p:cNvSpPr/>
          <p:nvPr/>
        </p:nvSpPr>
        <p:spPr>
          <a:xfrm flipH="1">
            <a:off x="-1" y="-1"/>
            <a:ext cx="12191998" cy="1590742"/>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42" name="Google Shape;142;p6"/>
          <p:cNvSpPr/>
          <p:nvPr/>
        </p:nvSpPr>
        <p:spPr>
          <a:xfrm rot="10800000" flipH="1">
            <a:off x="-3" y="0"/>
            <a:ext cx="8115306" cy="1590742"/>
          </a:xfrm>
          <a:prstGeom prst="rect">
            <a:avLst/>
          </a:prstGeom>
          <a:gradFill>
            <a:gsLst>
              <a:gs pos="0">
                <a:srgbClr val="156082">
                  <a:alpha val="0"/>
                </a:srgbClr>
              </a:gs>
              <a:gs pos="20000">
                <a:srgbClr val="156082">
                  <a:alpha val="0"/>
                </a:srgbClr>
              </a:gs>
              <a:gs pos="100000">
                <a:srgbClr val="0A3041">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43" name="Google Shape;143;p6"/>
          <p:cNvSpPr txBox="1">
            <a:spLocks noGrp="1"/>
          </p:cNvSpPr>
          <p:nvPr>
            <p:ph type="title"/>
          </p:nvPr>
        </p:nvSpPr>
        <p:spPr>
          <a:xfrm>
            <a:off x="598714" y="459352"/>
            <a:ext cx="9895951"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アプリ機能</a:t>
            </a:r>
            <a:endParaRPr sz="5400" dirty="0">
              <a:solidFill>
                <a:srgbClr val="FFFFFF"/>
              </a:solidFill>
            </a:endParaRPr>
          </a:p>
        </p:txBody>
      </p:sp>
      <p:sp>
        <p:nvSpPr>
          <p:cNvPr id="144" name="Google Shape;144;p6"/>
          <p:cNvSpPr txBox="1"/>
          <p:nvPr/>
        </p:nvSpPr>
        <p:spPr>
          <a:xfrm>
            <a:off x="794647" y="2056775"/>
            <a:ext cx="10817100" cy="4663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b="1" u="sng" dirty="0">
                <a:solidFill>
                  <a:schemeClr val="dk1"/>
                </a:solidFill>
                <a:latin typeface="メイリオ" panose="020B0604030504040204" pitchFamily="50" charset="-128"/>
                <a:ea typeface="メイリオ" panose="020B0604030504040204" pitchFamily="50" charset="-128"/>
              </a:rPr>
              <a:t>機能</a:t>
            </a:r>
            <a:endParaRPr sz="2400" b="1" u="sng" dirty="0">
              <a:solidFill>
                <a:schemeClr val="dk1"/>
              </a:solidFill>
              <a:latin typeface="メイリオ" panose="020B0604030504040204" pitchFamily="50" charset="-128"/>
              <a:ea typeface="メイリオ" panose="020B0604030504040204" pitchFamily="50" charset="-128"/>
              <a:sym typeface="Arial"/>
            </a:endParaRPr>
          </a:p>
          <a:p>
            <a:pPr marL="457200" marR="0" lvl="0" indent="-387350" algn="l" rtl="0">
              <a:lnSpc>
                <a:spcPct val="150000"/>
              </a:lnSpc>
              <a:spcBef>
                <a:spcPts val="0"/>
              </a:spcBef>
              <a:spcAft>
                <a:spcPts val="0"/>
              </a:spcAft>
              <a:buClr>
                <a:schemeClr val="dk1"/>
              </a:buClr>
              <a:buSzPts val="2500"/>
              <a:buChar char="●"/>
            </a:pPr>
            <a:r>
              <a:rPr lang="ja-JP" sz="2500" dirty="0">
                <a:solidFill>
                  <a:schemeClr val="dk1"/>
                </a:solidFill>
                <a:latin typeface="メイリオ" panose="020B0604030504040204" pitchFamily="50" charset="-128"/>
                <a:ea typeface="メイリオ" panose="020B0604030504040204" pitchFamily="50" charset="-128"/>
              </a:rPr>
              <a:t>作品ごとのタイムライン</a:t>
            </a:r>
            <a:endParaRPr sz="2500" dirty="0">
              <a:solidFill>
                <a:schemeClr val="dk1"/>
              </a:solidFill>
              <a:latin typeface="メイリオ" panose="020B0604030504040204" pitchFamily="50" charset="-128"/>
              <a:ea typeface="メイリオ" panose="020B0604030504040204" pitchFamily="50" charset="-128"/>
            </a:endParaRPr>
          </a:p>
          <a:p>
            <a:pPr marL="457200" marR="0" lvl="0" indent="-387350" algn="l" rtl="0">
              <a:lnSpc>
                <a:spcPct val="150000"/>
              </a:lnSpc>
              <a:spcBef>
                <a:spcPts val="0"/>
              </a:spcBef>
              <a:spcAft>
                <a:spcPts val="0"/>
              </a:spcAft>
              <a:buClr>
                <a:schemeClr val="dk1"/>
              </a:buClr>
              <a:buSzPts val="2500"/>
              <a:buChar char="●"/>
            </a:pPr>
            <a:r>
              <a:rPr lang="ja-JP" sz="2500" dirty="0">
                <a:solidFill>
                  <a:schemeClr val="dk1"/>
                </a:solidFill>
                <a:latin typeface="メイリオ" panose="020B0604030504040204" pitchFamily="50" charset="-128"/>
                <a:ea typeface="メイリオ" panose="020B0604030504040204" pitchFamily="50" charset="-128"/>
              </a:rPr>
              <a:t>話数やエピソードを絞っての投稿の表示</a:t>
            </a:r>
            <a:endParaRPr sz="2500" dirty="0">
              <a:solidFill>
                <a:schemeClr val="dk1"/>
              </a:solidFill>
              <a:latin typeface="メイリオ" panose="020B0604030504040204" pitchFamily="50" charset="-128"/>
              <a:ea typeface="メイリオ" panose="020B0604030504040204" pitchFamily="50" charset="-128"/>
            </a:endParaRPr>
          </a:p>
          <a:p>
            <a:pPr marL="457200" marR="0" lvl="0" indent="-387350" algn="l" rtl="0">
              <a:lnSpc>
                <a:spcPct val="150000"/>
              </a:lnSpc>
              <a:spcBef>
                <a:spcPts val="0"/>
              </a:spcBef>
              <a:spcAft>
                <a:spcPts val="0"/>
              </a:spcAft>
              <a:buClr>
                <a:schemeClr val="dk1"/>
              </a:buClr>
              <a:buSzPts val="2500"/>
              <a:buChar char="●"/>
            </a:pPr>
            <a:r>
              <a:rPr lang="ja-JP" sz="2500" dirty="0">
                <a:solidFill>
                  <a:schemeClr val="dk1"/>
                </a:solidFill>
                <a:latin typeface="メイリオ" panose="020B0604030504040204" pitchFamily="50" charset="-128"/>
                <a:ea typeface="メイリオ" panose="020B0604030504040204" pitchFamily="50" charset="-128"/>
              </a:rPr>
              <a:t>作品ごとに現在ユーザが読んでいる最新話の保存</a:t>
            </a:r>
            <a:endParaRPr sz="2500" dirty="0">
              <a:solidFill>
                <a:schemeClr val="dk1"/>
              </a:solidFill>
              <a:latin typeface="メイリオ" panose="020B0604030504040204" pitchFamily="50" charset="-128"/>
              <a:ea typeface="メイリオ" panose="020B0604030504040204" pitchFamily="50" charset="-128"/>
            </a:endParaRPr>
          </a:p>
          <a:p>
            <a:pPr marL="457200" marR="0" lvl="0" indent="-387350" algn="l" rtl="0">
              <a:lnSpc>
                <a:spcPct val="150000"/>
              </a:lnSpc>
              <a:spcBef>
                <a:spcPts val="0"/>
              </a:spcBef>
              <a:spcAft>
                <a:spcPts val="0"/>
              </a:spcAft>
              <a:buClr>
                <a:schemeClr val="dk1"/>
              </a:buClr>
              <a:buSzPts val="2500"/>
              <a:buChar char="●"/>
            </a:pPr>
            <a:r>
              <a:rPr lang="ja-JP" sz="2500" dirty="0">
                <a:solidFill>
                  <a:schemeClr val="dk1"/>
                </a:solidFill>
                <a:latin typeface="メイリオ" panose="020B0604030504040204" pitchFamily="50" charset="-128"/>
                <a:ea typeface="メイリオ" panose="020B0604030504040204" pitchFamily="50" charset="-128"/>
              </a:rPr>
              <a:t>作品、話数を紐づけて文章を投稿</a:t>
            </a:r>
            <a:endParaRPr sz="2500" dirty="0">
              <a:solidFill>
                <a:schemeClr val="dk1"/>
              </a:solidFill>
              <a:latin typeface="メイリオ" panose="020B0604030504040204" pitchFamily="50" charset="-128"/>
              <a:ea typeface="メイリオ" panose="020B0604030504040204" pitchFamily="50" charset="-128"/>
            </a:endParaRPr>
          </a:p>
          <a:p>
            <a:pPr marL="457200" marR="0" lvl="0" indent="-387350" algn="l" rtl="0">
              <a:lnSpc>
                <a:spcPct val="150000"/>
              </a:lnSpc>
              <a:spcBef>
                <a:spcPts val="0"/>
              </a:spcBef>
              <a:spcAft>
                <a:spcPts val="0"/>
              </a:spcAft>
              <a:buClr>
                <a:schemeClr val="dk1"/>
              </a:buClr>
              <a:buSzPts val="2500"/>
              <a:buChar char="●"/>
            </a:pPr>
            <a:r>
              <a:rPr lang="ja-JP" sz="2500" dirty="0">
                <a:solidFill>
                  <a:schemeClr val="dk1"/>
                </a:solidFill>
                <a:latin typeface="メイリオ" panose="020B0604030504040204" pitchFamily="50" charset="-128"/>
                <a:ea typeface="メイリオ" panose="020B0604030504040204" pitchFamily="50" charset="-128"/>
              </a:rPr>
              <a:t>投稿に対する高評価、返信の投稿</a:t>
            </a:r>
            <a:endParaRPr sz="2500" dirty="0">
              <a:solidFill>
                <a:schemeClr val="dk1"/>
              </a:solidFill>
              <a:latin typeface="メイリオ" panose="020B0604030504040204" pitchFamily="50" charset="-128"/>
              <a:ea typeface="メイリオ" panose="020B0604030504040204" pitchFamily="50" charset="-128"/>
            </a:endParaRPr>
          </a:p>
          <a:p>
            <a:pPr marL="457200" marR="0" lvl="0" indent="-387350" algn="l" rtl="0">
              <a:lnSpc>
                <a:spcPct val="150000"/>
              </a:lnSpc>
              <a:spcBef>
                <a:spcPts val="0"/>
              </a:spcBef>
              <a:spcAft>
                <a:spcPts val="0"/>
              </a:spcAft>
              <a:buClr>
                <a:schemeClr val="dk1"/>
              </a:buClr>
              <a:buSzPts val="2500"/>
              <a:buChar char="●"/>
            </a:pPr>
            <a:r>
              <a:rPr lang="ja-JP" sz="2500" dirty="0">
                <a:solidFill>
                  <a:schemeClr val="dk1"/>
                </a:solidFill>
                <a:latin typeface="メイリオ" panose="020B0604030504040204" pitchFamily="50" charset="-128"/>
                <a:ea typeface="メイリオ" panose="020B0604030504040204" pitchFamily="50" charset="-128"/>
              </a:rPr>
              <a:t>プロフィール表示・編集</a:t>
            </a:r>
            <a:endParaRPr sz="2500"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24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endParaRPr sz="2400" dirty="0">
              <a:solidFill>
                <a:schemeClr val="dk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8"/>
        <p:cNvGrpSpPr/>
        <p:nvPr/>
      </p:nvGrpSpPr>
      <p:grpSpPr>
        <a:xfrm>
          <a:off x="0" y="0"/>
          <a:ext cx="0" cy="0"/>
          <a:chOff x="0" y="0"/>
          <a:chExt cx="0" cy="0"/>
        </a:xfrm>
      </p:grpSpPr>
      <p:sp>
        <p:nvSpPr>
          <p:cNvPr id="149" name="Google Shape;149;p5"/>
          <p:cNvSpPr/>
          <p:nvPr/>
        </p:nvSpPr>
        <p:spPr>
          <a:xfrm flipH="1">
            <a:off x="-3" y="-1"/>
            <a:ext cx="12192000" cy="1590600"/>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50" name="Google Shape;150;p5"/>
          <p:cNvSpPr/>
          <p:nvPr/>
        </p:nvSpPr>
        <p:spPr>
          <a:xfrm rot="10800000" flipH="1">
            <a:off x="-3" y="142"/>
            <a:ext cx="8115300" cy="1590600"/>
          </a:xfrm>
          <a:prstGeom prst="rect">
            <a:avLst/>
          </a:prstGeom>
          <a:gradFill>
            <a:gsLst>
              <a:gs pos="0">
                <a:srgbClr val="156082">
                  <a:alpha val="0"/>
                </a:srgbClr>
              </a:gs>
              <a:gs pos="20000">
                <a:srgbClr val="156082">
                  <a:alpha val="0"/>
                </a:srgbClr>
              </a:gs>
              <a:gs pos="100000">
                <a:srgbClr val="0A3041">
                  <a:alpha val="54901"/>
                </a:srgbClr>
              </a:gs>
            </a:gsLst>
            <a:lin ang="1380014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51" name="Google Shape;151;p5"/>
          <p:cNvSpPr txBox="1">
            <a:spLocks noGrp="1"/>
          </p:cNvSpPr>
          <p:nvPr>
            <p:ph type="title"/>
          </p:nvPr>
        </p:nvSpPr>
        <p:spPr>
          <a:xfrm>
            <a:off x="598714" y="459352"/>
            <a:ext cx="9896100" cy="1033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アプリ画面</a:t>
            </a:r>
            <a:endParaRPr sz="5400" dirty="0">
              <a:solidFill>
                <a:srgbClr val="FFFFFF"/>
              </a:solidFill>
            </a:endParaRPr>
          </a:p>
        </p:txBody>
      </p:sp>
      <p:sp>
        <p:nvSpPr>
          <p:cNvPr id="152" name="Google Shape;152;p5"/>
          <p:cNvSpPr txBox="1"/>
          <p:nvPr/>
        </p:nvSpPr>
        <p:spPr>
          <a:xfrm>
            <a:off x="2151575" y="5292475"/>
            <a:ext cx="10420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sz="2800" dirty="0">
                <a:solidFill>
                  <a:schemeClr val="dk1"/>
                </a:solidFill>
                <a:latin typeface="メイリオ" panose="020B0604030504040204" pitchFamily="50" charset="-128"/>
                <a:ea typeface="メイリオ" panose="020B0604030504040204" pitchFamily="50" charset="-128"/>
              </a:rPr>
              <a:t>ホーム画面</a:t>
            </a:r>
            <a:endParaRPr sz="2800" dirty="0">
              <a:solidFill>
                <a:schemeClr val="dk1"/>
              </a:solidFill>
              <a:latin typeface="メイリオ" panose="020B0604030504040204" pitchFamily="50" charset="-128"/>
              <a:ea typeface="メイリオ" panose="020B0604030504040204" pitchFamily="50" charset="-128"/>
            </a:endParaRPr>
          </a:p>
        </p:txBody>
      </p:sp>
      <p:sp>
        <p:nvSpPr>
          <p:cNvPr id="153" name="Google Shape;153;p5"/>
          <p:cNvSpPr txBox="1"/>
          <p:nvPr/>
        </p:nvSpPr>
        <p:spPr>
          <a:xfrm>
            <a:off x="7168250" y="5292475"/>
            <a:ext cx="10420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sz="2800" dirty="0">
                <a:solidFill>
                  <a:schemeClr val="dk1"/>
                </a:solidFill>
                <a:latin typeface="メイリオ" panose="020B0604030504040204" pitchFamily="50" charset="-128"/>
                <a:ea typeface="メイリオ" panose="020B0604030504040204" pitchFamily="50" charset="-128"/>
              </a:rPr>
              <a:t>タイムライン画面</a:t>
            </a:r>
            <a:endParaRPr sz="2800" dirty="0">
              <a:solidFill>
                <a:schemeClr val="dk1"/>
              </a:solidFill>
              <a:latin typeface="メイリオ" panose="020B0604030504040204" pitchFamily="50" charset="-128"/>
              <a:ea typeface="メイリオ" panose="020B0604030504040204" pitchFamily="50" charset="-128"/>
            </a:endParaRPr>
          </a:p>
        </p:txBody>
      </p:sp>
      <p:pic>
        <p:nvPicPr>
          <p:cNvPr id="154" name="Google Shape;154;p5"/>
          <p:cNvPicPr preferRelativeResize="0"/>
          <p:nvPr/>
        </p:nvPicPr>
        <p:blipFill>
          <a:blip r:embed="rId3">
            <a:alphaModFix/>
          </a:blip>
          <a:stretch>
            <a:fillRect/>
          </a:stretch>
        </p:blipFill>
        <p:spPr>
          <a:xfrm>
            <a:off x="661925" y="2529900"/>
            <a:ext cx="4878152" cy="2385625"/>
          </a:xfrm>
          <a:prstGeom prst="rect">
            <a:avLst/>
          </a:prstGeom>
          <a:noFill/>
          <a:ln>
            <a:noFill/>
          </a:ln>
        </p:spPr>
      </p:pic>
      <p:pic>
        <p:nvPicPr>
          <p:cNvPr id="155" name="Google Shape;155;p5"/>
          <p:cNvPicPr preferRelativeResize="0"/>
          <p:nvPr/>
        </p:nvPicPr>
        <p:blipFill>
          <a:blip r:embed="rId4">
            <a:alphaModFix/>
          </a:blip>
          <a:stretch>
            <a:fillRect/>
          </a:stretch>
        </p:blipFill>
        <p:spPr>
          <a:xfrm>
            <a:off x="6103025" y="2529889"/>
            <a:ext cx="5532985" cy="23856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9"/>
        <p:cNvGrpSpPr/>
        <p:nvPr/>
      </p:nvGrpSpPr>
      <p:grpSpPr>
        <a:xfrm>
          <a:off x="0" y="0"/>
          <a:ext cx="0" cy="0"/>
          <a:chOff x="0" y="0"/>
          <a:chExt cx="0" cy="0"/>
        </a:xfrm>
      </p:grpSpPr>
      <p:sp>
        <p:nvSpPr>
          <p:cNvPr id="160" name="Google Shape;160;g2edc8a47b3c_1_1"/>
          <p:cNvSpPr/>
          <p:nvPr/>
        </p:nvSpPr>
        <p:spPr>
          <a:xfrm flipH="1">
            <a:off x="-3" y="-1"/>
            <a:ext cx="12192000" cy="1590600"/>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61" name="Google Shape;161;g2edc8a47b3c_1_1"/>
          <p:cNvSpPr/>
          <p:nvPr/>
        </p:nvSpPr>
        <p:spPr>
          <a:xfrm rot="10800000" flipH="1">
            <a:off x="-3" y="142"/>
            <a:ext cx="8115300" cy="1590600"/>
          </a:xfrm>
          <a:prstGeom prst="rect">
            <a:avLst/>
          </a:prstGeom>
          <a:gradFill>
            <a:gsLst>
              <a:gs pos="0">
                <a:srgbClr val="156082">
                  <a:alpha val="0"/>
                </a:srgbClr>
              </a:gs>
              <a:gs pos="20000">
                <a:srgbClr val="156082">
                  <a:alpha val="0"/>
                </a:srgbClr>
              </a:gs>
              <a:gs pos="100000">
                <a:srgbClr val="0A3041">
                  <a:alpha val="54901"/>
                </a:srgbClr>
              </a:gs>
            </a:gsLst>
            <a:lin ang="1380014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62" name="Google Shape;162;g2edc8a47b3c_1_1"/>
          <p:cNvSpPr txBox="1">
            <a:spLocks noGrp="1"/>
          </p:cNvSpPr>
          <p:nvPr>
            <p:ph type="title"/>
          </p:nvPr>
        </p:nvSpPr>
        <p:spPr>
          <a:xfrm>
            <a:off x="598714" y="459352"/>
            <a:ext cx="9896100" cy="1033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demo</a:t>
            </a:r>
            <a:endParaRPr sz="5400" dirty="0">
              <a:solidFill>
                <a:srgbClr val="FFFFFF"/>
              </a:solidFill>
            </a:endParaRPr>
          </a:p>
        </p:txBody>
      </p:sp>
      <p:pic>
        <p:nvPicPr>
          <p:cNvPr id="163" name="Google Shape;163;g2edc8a47b3c_1_1" title="Vite + React + TS および他 8 ページ - 個人 - Microsoft​ Edge 2024-07-23 13-10-21.mp4">
            <a:hlinkClick r:id="rId3"/>
          </p:cNvPr>
          <p:cNvPicPr preferRelativeResize="0"/>
          <p:nvPr/>
        </p:nvPicPr>
        <p:blipFill>
          <a:blip r:embed="rId4">
            <a:alphaModFix/>
          </a:blip>
          <a:stretch>
            <a:fillRect/>
          </a:stretch>
        </p:blipFill>
        <p:spPr>
          <a:xfrm>
            <a:off x="1042525" y="1590592"/>
            <a:ext cx="9452299" cy="496245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animEffect transition="in" filter="fade">
                                      <p:cBhvr>
                                        <p:cTn id="7" dur="1000"/>
                                        <p:tgtEl>
                                          <p:spTgt spid="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7"/>
        <p:cNvGrpSpPr/>
        <p:nvPr/>
      </p:nvGrpSpPr>
      <p:grpSpPr>
        <a:xfrm>
          <a:off x="0" y="0"/>
          <a:ext cx="0" cy="0"/>
          <a:chOff x="0" y="0"/>
          <a:chExt cx="0" cy="0"/>
        </a:xfrm>
      </p:grpSpPr>
      <p:sp>
        <p:nvSpPr>
          <p:cNvPr id="168" name="Google Shape;168;g2e99203a0a5_5_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69" name="Google Shape;169;g2e99203a0a5_5_0"/>
          <p:cNvSpPr/>
          <p:nvPr/>
        </p:nvSpPr>
        <p:spPr>
          <a:xfrm flipH="1">
            <a:off x="-3" y="-1"/>
            <a:ext cx="12192000" cy="1590600"/>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70" name="Google Shape;170;g2e99203a0a5_5_0"/>
          <p:cNvSpPr/>
          <p:nvPr/>
        </p:nvSpPr>
        <p:spPr>
          <a:xfrm rot="10800000" flipH="1">
            <a:off x="-3" y="142"/>
            <a:ext cx="8115300" cy="1590600"/>
          </a:xfrm>
          <a:prstGeom prst="rect">
            <a:avLst/>
          </a:prstGeom>
          <a:gradFill>
            <a:gsLst>
              <a:gs pos="0">
                <a:srgbClr val="156082">
                  <a:alpha val="0"/>
                </a:srgbClr>
              </a:gs>
              <a:gs pos="20000">
                <a:srgbClr val="156082">
                  <a:alpha val="0"/>
                </a:srgbClr>
              </a:gs>
              <a:gs pos="100000">
                <a:srgbClr val="0A3041">
                  <a:alpha val="54901"/>
                </a:srgbClr>
              </a:gs>
            </a:gsLst>
            <a:lin ang="1380014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71" name="Google Shape;171;g2e99203a0a5_5_0"/>
          <p:cNvSpPr txBox="1">
            <a:spLocks noGrp="1"/>
          </p:cNvSpPr>
          <p:nvPr>
            <p:ph type="title"/>
          </p:nvPr>
        </p:nvSpPr>
        <p:spPr>
          <a:xfrm>
            <a:off x="598714" y="459352"/>
            <a:ext cx="9896100" cy="1033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分担</a:t>
            </a:r>
            <a:endParaRPr sz="5400" dirty="0">
              <a:solidFill>
                <a:srgbClr val="FFFFFF"/>
              </a:solidFill>
            </a:endParaRPr>
          </a:p>
        </p:txBody>
      </p:sp>
      <p:sp>
        <p:nvSpPr>
          <p:cNvPr id="172" name="Google Shape;172;g2e99203a0a5_5_0"/>
          <p:cNvSpPr txBox="1"/>
          <p:nvPr/>
        </p:nvSpPr>
        <p:spPr>
          <a:xfrm>
            <a:off x="794647" y="2056775"/>
            <a:ext cx="10817100" cy="3786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b="1" u="sng" dirty="0">
                <a:solidFill>
                  <a:schemeClr val="dk1"/>
                </a:solidFill>
                <a:latin typeface="メイリオ" panose="020B0604030504040204" pitchFamily="50" charset="-128"/>
                <a:ea typeface="メイリオ" panose="020B0604030504040204" pitchFamily="50" charset="-128"/>
              </a:rPr>
              <a:t>フロントエンド（REACT）</a:t>
            </a:r>
            <a:endParaRPr sz="2400" b="1"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rPr>
              <a:t>平尾喜洋（ホーム画面作成、タイムライン画面作成、ロゴデザイン）</a:t>
            </a:r>
            <a:endParaRPr sz="2400"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rPr>
              <a:t>武田晃知（タイムライン画面作成、プロフィール画面作成）</a:t>
            </a:r>
            <a:endParaRPr sz="2400"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rPr>
              <a:t>岡山祐大（ユーザ認証機能、カラーデザイン）</a:t>
            </a:r>
            <a:endParaRPr sz="2400"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24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r>
              <a:rPr lang="ja-JP" sz="2400" b="1" u="sng" dirty="0">
                <a:solidFill>
                  <a:schemeClr val="dk1"/>
                </a:solidFill>
                <a:latin typeface="メイリオ" panose="020B0604030504040204" pitchFamily="50" charset="-128"/>
                <a:ea typeface="メイリオ" panose="020B0604030504040204" pitchFamily="50" charset="-128"/>
              </a:rPr>
              <a:t>バックエンド（Django, GO, gRPC）</a:t>
            </a:r>
            <a:endParaRPr sz="2400" b="1" u="sng"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rPr>
              <a:t>山本紘輝（データベース設計;user_status,title,book,chapter,python側のgRPCモデル設定）</a:t>
            </a:r>
            <a:endParaRPr sz="24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rPr>
              <a:t>Xu Zibo（データベース設計;user,post,good,gRPCを用いたPythonとGOの接続）</a:t>
            </a:r>
            <a:endParaRPr sz="2400" dirty="0">
              <a:solidFill>
                <a:schemeClr val="dk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6"/>
        <p:cNvGrpSpPr/>
        <p:nvPr/>
      </p:nvGrpSpPr>
      <p:grpSpPr>
        <a:xfrm>
          <a:off x="0" y="0"/>
          <a:ext cx="0" cy="0"/>
          <a:chOff x="0" y="0"/>
          <a:chExt cx="0" cy="0"/>
        </a:xfrm>
      </p:grpSpPr>
      <p:sp>
        <p:nvSpPr>
          <p:cNvPr id="177" name="Google Shape;177;g2edc8a47b3c_0_6"/>
          <p:cNvSpPr/>
          <p:nvPr/>
        </p:nvSpPr>
        <p:spPr>
          <a:xfrm>
            <a:off x="43395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78" name="Google Shape;178;g2edc8a47b3c_0_6"/>
          <p:cNvSpPr/>
          <p:nvPr/>
        </p:nvSpPr>
        <p:spPr>
          <a:xfrm flipH="1">
            <a:off x="-3" y="-1"/>
            <a:ext cx="12192000" cy="1590600"/>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79" name="Google Shape;179;g2edc8a47b3c_0_6"/>
          <p:cNvSpPr/>
          <p:nvPr/>
        </p:nvSpPr>
        <p:spPr>
          <a:xfrm rot="10800000" flipH="1">
            <a:off x="-3" y="142"/>
            <a:ext cx="8115300" cy="1590600"/>
          </a:xfrm>
          <a:prstGeom prst="rect">
            <a:avLst/>
          </a:prstGeom>
          <a:gradFill>
            <a:gsLst>
              <a:gs pos="0">
                <a:srgbClr val="156082">
                  <a:alpha val="0"/>
                </a:srgbClr>
              </a:gs>
              <a:gs pos="20000">
                <a:srgbClr val="156082">
                  <a:alpha val="0"/>
                </a:srgbClr>
              </a:gs>
              <a:gs pos="100000">
                <a:srgbClr val="0A3041">
                  <a:alpha val="54901"/>
                </a:srgbClr>
              </a:gs>
            </a:gsLst>
            <a:lin ang="1380014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80" name="Google Shape;180;g2edc8a47b3c_0_6"/>
          <p:cNvSpPr txBox="1">
            <a:spLocks noGrp="1"/>
          </p:cNvSpPr>
          <p:nvPr>
            <p:ph type="title"/>
          </p:nvPr>
        </p:nvSpPr>
        <p:spPr>
          <a:xfrm>
            <a:off x="598714" y="459352"/>
            <a:ext cx="9896100" cy="1033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今後の展望</a:t>
            </a:r>
            <a:endParaRPr sz="5400" dirty="0">
              <a:solidFill>
                <a:srgbClr val="FFFFFF"/>
              </a:solidFill>
            </a:endParaRPr>
          </a:p>
        </p:txBody>
      </p:sp>
      <p:sp>
        <p:nvSpPr>
          <p:cNvPr id="181" name="Google Shape;181;g2edc8a47b3c_0_6"/>
          <p:cNvSpPr txBox="1"/>
          <p:nvPr/>
        </p:nvSpPr>
        <p:spPr>
          <a:xfrm>
            <a:off x="598725" y="1590600"/>
            <a:ext cx="11758200" cy="501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000" b="1" u="sng" dirty="0">
                <a:solidFill>
                  <a:schemeClr val="dk1"/>
                </a:solidFill>
                <a:latin typeface="メイリオ" panose="020B0604030504040204" pitchFamily="50" charset="-128"/>
                <a:ea typeface="メイリオ" panose="020B0604030504040204" pitchFamily="50" charset="-128"/>
              </a:rPr>
              <a:t>自動的なジャンル分け</a:t>
            </a:r>
            <a:endParaRPr sz="2000" b="1"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000" dirty="0">
                <a:solidFill>
                  <a:schemeClr val="dk1"/>
                </a:solidFill>
                <a:latin typeface="メイリオ" panose="020B0604030504040204" pitchFamily="50" charset="-128"/>
                <a:ea typeface="メイリオ" panose="020B0604030504040204" pitchFamily="50" charset="-128"/>
              </a:rPr>
              <a:t>投稿されたコメントを元にタイトルを分ける</a:t>
            </a:r>
            <a:endParaRPr sz="2000"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2000" dirty="0">
                <a:solidFill>
                  <a:schemeClr val="dk1"/>
                </a:solidFill>
                <a:latin typeface="メイリオ" panose="020B0604030504040204" pitchFamily="50" charset="-128"/>
                <a:ea typeface="メイリオ" panose="020B0604030504040204" pitchFamily="50" charset="-128"/>
              </a:rPr>
              <a:t>ex)　インペルダウン→ONE PIECE</a:t>
            </a:r>
            <a:endParaRPr sz="2000"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2000" dirty="0">
                <a:solidFill>
                  <a:schemeClr val="dk1"/>
                </a:solidFill>
                <a:latin typeface="メイリオ" panose="020B0604030504040204" pitchFamily="50" charset="-128"/>
                <a:ea typeface="メイリオ" panose="020B0604030504040204" pitchFamily="50" charset="-128"/>
              </a:rPr>
              <a:t>     　アンラック　　→アンデッドアンラック</a:t>
            </a:r>
            <a:endParaRPr sz="20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endParaRPr sz="20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r>
              <a:rPr lang="ja-JP" sz="2000" b="1" u="sng" dirty="0">
                <a:solidFill>
                  <a:schemeClr val="dk1"/>
                </a:solidFill>
                <a:latin typeface="メイリオ" panose="020B0604030504040204" pitchFamily="50" charset="-128"/>
                <a:ea typeface="メイリオ" panose="020B0604030504040204" pitchFamily="50" charset="-128"/>
              </a:rPr>
              <a:t>長期的な考察の蓄積</a:t>
            </a:r>
            <a:endParaRPr sz="2000" b="1" u="sng"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r>
              <a:rPr lang="ja-JP" sz="2000" dirty="0">
                <a:solidFill>
                  <a:schemeClr val="dk1"/>
                </a:solidFill>
                <a:latin typeface="メイリオ" panose="020B0604030504040204" pitchFamily="50" charset="-128"/>
                <a:ea typeface="メイリオ" panose="020B0604030504040204" pitchFamily="50" charset="-128"/>
              </a:rPr>
              <a:t>人々の考察を蓄積していき、未来の人々が過去の人々の感想・考察を見られる</a:t>
            </a:r>
            <a:endParaRPr sz="20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Clr>
                <a:schemeClr val="dk1"/>
              </a:buClr>
              <a:buFont typeface="Arial"/>
              <a:buNone/>
            </a:pPr>
            <a:r>
              <a:rPr lang="ja-JP" sz="2000" dirty="0">
                <a:solidFill>
                  <a:schemeClr val="dk1"/>
                </a:solidFill>
                <a:latin typeface="メイリオ" panose="020B0604030504040204" pitchFamily="50" charset="-128"/>
                <a:ea typeface="メイリオ" panose="020B0604030504040204" pitchFamily="50" charset="-128"/>
              </a:rPr>
              <a:t>ex)　2030年の読者が2024年の読者の感想を見て楽しむ</a:t>
            </a:r>
            <a:endParaRPr sz="20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endParaRPr sz="20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endParaRPr sz="20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r>
              <a:rPr lang="ja-JP" sz="2000" b="1" u="sng" dirty="0">
                <a:solidFill>
                  <a:schemeClr val="dk1"/>
                </a:solidFill>
                <a:latin typeface="メイリオ" panose="020B0604030504040204" pitchFamily="50" charset="-128"/>
                <a:ea typeface="メイリオ" panose="020B0604030504040204" pitchFamily="50" charset="-128"/>
              </a:rPr>
              <a:t>出版社と協力</a:t>
            </a:r>
            <a:endParaRPr sz="2000" b="1" u="sng"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r>
              <a:rPr lang="ja-JP" sz="2000" dirty="0">
                <a:solidFill>
                  <a:schemeClr val="dk1"/>
                </a:solidFill>
                <a:latin typeface="メイリオ" panose="020B0604030504040204" pitchFamily="50" charset="-128"/>
                <a:ea typeface="メイリオ" panose="020B0604030504040204" pitchFamily="50" charset="-128"/>
              </a:rPr>
              <a:t>考察について「このページのこの部分の考察」とわかるように漫画本編を掲載</a:t>
            </a:r>
            <a:endParaRPr sz="20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Clr>
                <a:schemeClr val="dk1"/>
              </a:buClr>
              <a:buFont typeface="Arial"/>
              <a:buNone/>
            </a:pPr>
            <a:r>
              <a:rPr lang="ja-JP" sz="2000" dirty="0">
                <a:solidFill>
                  <a:schemeClr val="dk1"/>
                </a:solidFill>
                <a:latin typeface="メイリオ" panose="020B0604030504040204" pitchFamily="50" charset="-128"/>
                <a:ea typeface="メイリオ" panose="020B0604030504040204" pitchFamily="50" charset="-128"/>
              </a:rPr>
              <a:t>同じページについての議論が盛り上がる</a:t>
            </a:r>
            <a:endParaRPr sz="20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Clr>
                <a:schemeClr val="dk1"/>
              </a:buClr>
              <a:buFont typeface="Arial"/>
              <a:buNone/>
            </a:pPr>
            <a:endParaRPr sz="20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Clr>
                <a:schemeClr val="dk1"/>
              </a:buClr>
              <a:buFont typeface="Arial"/>
              <a:buNone/>
            </a:pPr>
            <a:r>
              <a:rPr lang="ja-JP" sz="2000" b="1" u="sng" dirty="0">
                <a:solidFill>
                  <a:schemeClr val="dk1"/>
                </a:solidFill>
                <a:latin typeface="メイリオ" panose="020B0604030504040204" pitchFamily="50" charset="-128"/>
                <a:ea typeface="メイリオ" panose="020B0604030504040204" pitchFamily="50" charset="-128"/>
              </a:rPr>
              <a:t>作品推薦機能</a:t>
            </a:r>
            <a:endParaRPr sz="2000" b="1" u="sng"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Clr>
                <a:schemeClr val="dk1"/>
              </a:buClr>
              <a:buFont typeface="Arial"/>
              <a:buNone/>
            </a:pPr>
            <a:r>
              <a:rPr lang="ja-JP" sz="2000" dirty="0">
                <a:solidFill>
                  <a:schemeClr val="dk1"/>
                </a:solidFill>
                <a:latin typeface="メイリオ" panose="020B0604030504040204" pitchFamily="50" charset="-128"/>
                <a:ea typeface="メイリオ" panose="020B0604030504040204" pitchFamily="50" charset="-128"/>
              </a:rPr>
              <a:t>ユーザのいいねや投稿から好みそうな作品を推薦する</a:t>
            </a:r>
            <a:endParaRPr sz="2000" dirty="0">
              <a:solidFill>
                <a:schemeClr val="dk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5"/>
        <p:cNvGrpSpPr/>
        <p:nvPr/>
      </p:nvGrpSpPr>
      <p:grpSpPr>
        <a:xfrm>
          <a:off x="0" y="0"/>
          <a:ext cx="0" cy="0"/>
          <a:chOff x="0" y="0"/>
          <a:chExt cx="0" cy="0"/>
        </a:xfrm>
      </p:grpSpPr>
      <p:sp>
        <p:nvSpPr>
          <p:cNvPr id="186" name="Google Shape;186;p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87" name="Google Shape;187;p7"/>
          <p:cNvSpPr/>
          <p:nvPr/>
        </p:nvSpPr>
        <p:spPr>
          <a:xfrm flipH="1">
            <a:off x="-1" y="-1"/>
            <a:ext cx="12191998" cy="1590742"/>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88" name="Google Shape;188;p7"/>
          <p:cNvSpPr/>
          <p:nvPr/>
        </p:nvSpPr>
        <p:spPr>
          <a:xfrm rot="10800000" flipH="1">
            <a:off x="-3" y="0"/>
            <a:ext cx="8115306" cy="1590742"/>
          </a:xfrm>
          <a:prstGeom prst="rect">
            <a:avLst/>
          </a:prstGeom>
          <a:gradFill>
            <a:gsLst>
              <a:gs pos="0">
                <a:srgbClr val="156082">
                  <a:alpha val="0"/>
                </a:srgbClr>
              </a:gs>
              <a:gs pos="20000">
                <a:srgbClr val="156082">
                  <a:alpha val="0"/>
                </a:srgbClr>
              </a:gs>
              <a:gs pos="100000">
                <a:srgbClr val="0A3041">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89" name="Google Shape;189;p7"/>
          <p:cNvSpPr txBox="1">
            <a:spLocks noGrp="1"/>
          </p:cNvSpPr>
          <p:nvPr>
            <p:ph type="title"/>
          </p:nvPr>
        </p:nvSpPr>
        <p:spPr>
          <a:xfrm>
            <a:off x="598714" y="459352"/>
            <a:ext cx="9895951"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ロードマップ</a:t>
            </a:r>
            <a:endParaRPr sz="5400" dirty="0">
              <a:solidFill>
                <a:srgbClr val="FFFFFF"/>
              </a:solidFill>
            </a:endParaRPr>
          </a:p>
        </p:txBody>
      </p:sp>
      <p:cxnSp>
        <p:nvCxnSpPr>
          <p:cNvPr id="190" name="Google Shape;190;p7"/>
          <p:cNvCxnSpPr/>
          <p:nvPr/>
        </p:nvCxnSpPr>
        <p:spPr>
          <a:xfrm>
            <a:off x="1408921" y="6209150"/>
            <a:ext cx="9368589" cy="0"/>
          </a:xfrm>
          <a:prstGeom prst="straightConnector1">
            <a:avLst/>
          </a:prstGeom>
          <a:noFill/>
          <a:ln w="19050" cap="flat" cmpd="sng">
            <a:solidFill>
              <a:schemeClr val="accent1"/>
            </a:solidFill>
            <a:prstDash val="solid"/>
            <a:miter lim="800000"/>
            <a:headEnd type="none" w="sm" len="sm"/>
            <a:tailEnd type="triangle" w="med" len="med"/>
          </a:ln>
        </p:spPr>
      </p:cxnSp>
      <p:sp>
        <p:nvSpPr>
          <p:cNvPr id="191" name="Google Shape;191;p7"/>
          <p:cNvSpPr txBox="1"/>
          <p:nvPr/>
        </p:nvSpPr>
        <p:spPr>
          <a:xfrm>
            <a:off x="1761848" y="6337487"/>
            <a:ext cx="697627"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2022</a:t>
            </a:r>
            <a:endParaRPr sz="1800" dirty="0">
              <a:solidFill>
                <a:schemeClr val="dk1"/>
              </a:solidFill>
              <a:latin typeface="メイリオ" panose="020B0604030504040204" pitchFamily="50" charset="-128"/>
              <a:ea typeface="メイリオ" panose="020B0604030504040204" pitchFamily="50" charset="-128"/>
              <a:sym typeface="Arial"/>
            </a:endParaRPr>
          </a:p>
        </p:txBody>
      </p:sp>
      <p:sp>
        <p:nvSpPr>
          <p:cNvPr id="192" name="Google Shape;192;p7"/>
          <p:cNvSpPr txBox="1"/>
          <p:nvPr/>
        </p:nvSpPr>
        <p:spPr>
          <a:xfrm>
            <a:off x="5149366" y="6337487"/>
            <a:ext cx="697627"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2030</a:t>
            </a:r>
            <a:endParaRPr sz="1800" dirty="0">
              <a:solidFill>
                <a:schemeClr val="dk1"/>
              </a:solidFill>
              <a:latin typeface="メイリオ" panose="020B0604030504040204" pitchFamily="50" charset="-128"/>
              <a:ea typeface="メイリオ" panose="020B0604030504040204" pitchFamily="50" charset="-128"/>
              <a:sym typeface="Arial"/>
            </a:endParaRPr>
          </a:p>
        </p:txBody>
      </p:sp>
      <p:sp>
        <p:nvSpPr>
          <p:cNvPr id="193" name="Google Shape;193;p7"/>
          <p:cNvSpPr txBox="1"/>
          <p:nvPr/>
        </p:nvSpPr>
        <p:spPr>
          <a:xfrm>
            <a:off x="8820374" y="6337487"/>
            <a:ext cx="697627"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2050</a:t>
            </a:r>
            <a:endParaRPr sz="1800" dirty="0">
              <a:solidFill>
                <a:schemeClr val="dk1"/>
              </a:solidFill>
              <a:latin typeface="メイリオ" panose="020B0604030504040204" pitchFamily="50" charset="-128"/>
              <a:ea typeface="メイリオ" panose="020B0604030504040204" pitchFamily="50" charset="-128"/>
              <a:sym typeface="Arial"/>
            </a:endParaRPr>
          </a:p>
        </p:txBody>
      </p:sp>
      <p:sp>
        <p:nvSpPr>
          <p:cNvPr id="194" name="Google Shape;194;p7"/>
          <p:cNvSpPr txBox="1"/>
          <p:nvPr/>
        </p:nvSpPr>
        <p:spPr>
          <a:xfrm>
            <a:off x="8588054" y="1873226"/>
            <a:ext cx="3262432"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u="sng" dirty="0">
                <a:solidFill>
                  <a:schemeClr val="dk1"/>
                </a:solidFill>
                <a:latin typeface="メイリオ" panose="020B0604030504040204" pitchFamily="50" charset="-128"/>
                <a:ea typeface="メイリオ" panose="020B0604030504040204" pitchFamily="50" charset="-128"/>
                <a:sym typeface="Arial"/>
              </a:rPr>
              <a:t>達成したい目標</a:t>
            </a:r>
            <a:endParaRPr sz="2400"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時代にとらわれずに</a:t>
            </a:r>
            <a:endParaRPr sz="2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ネタバレなしに</a:t>
            </a:r>
            <a:endParaRPr sz="2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考察を行える場を作る</a:t>
            </a:r>
            <a:endParaRPr sz="2400" dirty="0">
              <a:solidFill>
                <a:schemeClr val="dk1"/>
              </a:solidFill>
              <a:latin typeface="メイリオ" panose="020B0604030504040204" pitchFamily="50" charset="-128"/>
              <a:ea typeface="メイリオ" panose="020B0604030504040204" pitchFamily="50" charset="-128"/>
              <a:sym typeface="Arial"/>
            </a:endParaRPr>
          </a:p>
        </p:txBody>
      </p:sp>
      <p:sp>
        <p:nvSpPr>
          <p:cNvPr id="195" name="Google Shape;195;p7"/>
          <p:cNvSpPr txBox="1"/>
          <p:nvPr/>
        </p:nvSpPr>
        <p:spPr>
          <a:xfrm>
            <a:off x="4151438" y="4020060"/>
            <a:ext cx="4185761"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u="sng" dirty="0">
                <a:solidFill>
                  <a:schemeClr val="dk1"/>
                </a:solidFill>
                <a:latin typeface="メイリオ" panose="020B0604030504040204" pitchFamily="50" charset="-128"/>
                <a:ea typeface="メイリオ" panose="020B0604030504040204" pitchFamily="50" charset="-128"/>
                <a:sym typeface="Arial"/>
              </a:rPr>
              <a:t>マイルストーン</a:t>
            </a:r>
            <a:endParaRPr sz="2400"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考察ガチ勢の利用を促し</a:t>
            </a:r>
            <a:endParaRPr sz="2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世界中の人に利用してもらう</a:t>
            </a:r>
            <a:endParaRPr sz="2400" dirty="0">
              <a:solidFill>
                <a:schemeClr val="dk1"/>
              </a:solidFill>
              <a:latin typeface="メイリオ" panose="020B0604030504040204" pitchFamily="50" charset="-128"/>
              <a:ea typeface="メイリオ" panose="020B0604030504040204" pitchFamily="50" charset="-128"/>
              <a:sym typeface="Arial"/>
            </a:endParaRPr>
          </a:p>
        </p:txBody>
      </p:sp>
      <p:sp>
        <p:nvSpPr>
          <p:cNvPr id="196" name="Google Shape;196;p7"/>
          <p:cNvSpPr txBox="1"/>
          <p:nvPr/>
        </p:nvSpPr>
        <p:spPr>
          <a:xfrm>
            <a:off x="1168289" y="4813305"/>
            <a:ext cx="2339102"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u="sng" dirty="0">
                <a:solidFill>
                  <a:schemeClr val="dk1"/>
                </a:solidFill>
                <a:latin typeface="メイリオ" panose="020B0604030504040204" pitchFamily="50" charset="-128"/>
                <a:ea typeface="メイリオ" panose="020B0604030504040204" pitchFamily="50" charset="-128"/>
                <a:sym typeface="Arial"/>
              </a:rPr>
              <a:t>現状</a:t>
            </a:r>
            <a:endParaRPr sz="2400"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a:t>
            </a:r>
            <a:r>
              <a:rPr lang="ja-JP" sz="2400" b="1" dirty="0">
                <a:solidFill>
                  <a:srgbClr val="0D0D0D"/>
                </a:solidFill>
                <a:highlight>
                  <a:srgbClr val="FFFFFF"/>
                </a:highlight>
                <a:latin typeface="メイリオ" panose="020B0604030504040204" pitchFamily="50" charset="-128"/>
                <a:ea typeface="メイリオ" panose="020B0604030504040204" pitchFamily="50" charset="-128"/>
                <a:sym typeface="Arial"/>
              </a:rPr>
              <a:t> Insight </a:t>
            </a:r>
            <a:r>
              <a:rPr lang="ja-JP" sz="2400" dirty="0">
                <a:solidFill>
                  <a:schemeClr val="dk1"/>
                </a:solidFill>
                <a:latin typeface="メイリオ" panose="020B0604030504040204" pitchFamily="50" charset="-128"/>
                <a:ea typeface="メイリオ" panose="020B0604030504040204" pitchFamily="50" charset="-128"/>
                <a:sym typeface="Arial"/>
              </a:rPr>
              <a:t>」</a:t>
            </a:r>
            <a:endParaRPr sz="2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のプロトタイプ</a:t>
            </a:r>
            <a:endParaRPr sz="2400" dirty="0">
              <a:solidFill>
                <a:schemeClr val="dk1"/>
              </a:solidFill>
              <a:latin typeface="メイリオ" panose="020B0604030504040204" pitchFamily="50" charset="-128"/>
              <a:ea typeface="メイリオ" panose="020B0604030504040204" pitchFamily="50" charset="-128"/>
              <a:sym typeface="Arial"/>
            </a:endParaRPr>
          </a:p>
        </p:txBody>
      </p:sp>
      <p:sp>
        <p:nvSpPr>
          <p:cNvPr id="197" name="Google Shape;197;p7"/>
          <p:cNvSpPr txBox="1"/>
          <p:nvPr/>
        </p:nvSpPr>
        <p:spPr>
          <a:xfrm>
            <a:off x="3219340" y="2307400"/>
            <a:ext cx="3570208"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u="sng" dirty="0">
                <a:solidFill>
                  <a:schemeClr val="dk1"/>
                </a:solidFill>
                <a:latin typeface="メイリオ" panose="020B0604030504040204" pitchFamily="50" charset="-128"/>
                <a:ea typeface="メイリオ" panose="020B0604030504040204" pitchFamily="50" charset="-128"/>
                <a:sym typeface="Arial"/>
              </a:rPr>
              <a:t>課題</a:t>
            </a:r>
            <a:endParaRPr sz="2400"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考察を盛り上げるために</a:t>
            </a:r>
            <a:endParaRPr sz="2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多くの人に利用して</a:t>
            </a:r>
            <a:endParaRPr sz="2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もらわないといけない</a:t>
            </a:r>
            <a:endParaRPr sz="2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endParaRPr sz="2400" u="sng" dirty="0">
              <a:solidFill>
                <a:schemeClr val="dk1"/>
              </a:solidFill>
              <a:latin typeface="メイリオ" panose="020B0604030504040204" pitchFamily="50" charset="-128"/>
              <a:ea typeface="メイリオ" panose="020B0604030504040204" pitchFamily="50" charset="-128"/>
              <a:sym typeface="Arial"/>
            </a:endParaRPr>
          </a:p>
        </p:txBody>
      </p:sp>
      <p:sp>
        <p:nvSpPr>
          <p:cNvPr id="198" name="Google Shape;198;p7"/>
          <p:cNvSpPr/>
          <p:nvPr/>
        </p:nvSpPr>
        <p:spPr>
          <a:xfrm rot="-7360469">
            <a:off x="2994044" y="4541561"/>
            <a:ext cx="1026695" cy="595227"/>
          </a:xfrm>
          <a:prstGeom prst="downArrow">
            <a:avLst>
              <a:gd name="adj1" fmla="val 50000"/>
              <a:gd name="adj2" fmla="val 50000"/>
            </a:avLst>
          </a:prstGeom>
          <a:solidFill>
            <a:srgbClr val="93C47D"/>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199" name="Google Shape;199;p7"/>
          <p:cNvSpPr/>
          <p:nvPr/>
        </p:nvSpPr>
        <p:spPr>
          <a:xfrm rot="-7360469">
            <a:off x="7225635" y="3326467"/>
            <a:ext cx="1026695" cy="595227"/>
          </a:xfrm>
          <a:prstGeom prst="downArrow">
            <a:avLst>
              <a:gd name="adj1" fmla="val 50000"/>
              <a:gd name="adj2" fmla="val 50000"/>
            </a:avLst>
          </a:prstGeom>
          <a:solidFill>
            <a:srgbClr val="93C47D"/>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6D7A8"/>
        </a:solidFill>
        <a:effectLst/>
      </p:bgPr>
    </p:bg>
    <p:spTree>
      <p:nvGrpSpPr>
        <p:cNvPr id="1" name="Shape 204"/>
        <p:cNvGrpSpPr/>
        <p:nvPr/>
      </p:nvGrpSpPr>
      <p:grpSpPr>
        <a:xfrm>
          <a:off x="0" y="0"/>
          <a:ext cx="0" cy="0"/>
          <a:chOff x="0" y="0"/>
          <a:chExt cx="0" cy="0"/>
        </a:xfrm>
      </p:grpSpPr>
      <p:sp>
        <p:nvSpPr>
          <p:cNvPr id="205" name="Google Shape;205;g2782ed6f2e9_0_1529"/>
          <p:cNvSpPr/>
          <p:nvPr/>
        </p:nvSpPr>
        <p:spPr>
          <a:xfrm>
            <a:off x="3974206" y="4368623"/>
            <a:ext cx="4243589" cy="18288"/>
          </a:xfrm>
          <a:custGeom>
            <a:avLst/>
            <a:gdLst/>
            <a:ahLst/>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4900"/>
            </a:srgbClr>
          </a:solidFill>
          <a:ln w="44450" cap="rnd" cmpd="sng">
            <a:solidFill>
              <a:schemeClr val="lt1">
                <a:alpha val="749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メイリオ" panose="020B0604030504040204" pitchFamily="50" charset="-128"/>
              <a:ea typeface="メイリオ" panose="020B0604030504040204" pitchFamily="50" charset="-128"/>
              <a:sym typeface="Arial"/>
            </a:endParaRPr>
          </a:p>
        </p:txBody>
      </p:sp>
      <p:pic>
        <p:nvPicPr>
          <p:cNvPr id="206" name="Google Shape;206;g2782ed6f2e9_0_1529"/>
          <p:cNvPicPr preferRelativeResize="0"/>
          <p:nvPr/>
        </p:nvPicPr>
        <p:blipFill>
          <a:blip r:embed="rId3">
            <a:alphaModFix/>
          </a:blip>
          <a:stretch>
            <a:fillRect/>
          </a:stretch>
        </p:blipFill>
        <p:spPr>
          <a:xfrm>
            <a:off x="3163637" y="2710087"/>
            <a:ext cx="5864724" cy="3631099"/>
          </a:xfrm>
          <a:prstGeom prst="rect">
            <a:avLst/>
          </a:prstGeom>
          <a:noFill/>
          <a:ln>
            <a:noFill/>
          </a:ln>
        </p:spPr>
      </p:pic>
      <p:sp>
        <p:nvSpPr>
          <p:cNvPr id="207" name="Google Shape;207;g2782ed6f2e9_0_1529"/>
          <p:cNvSpPr txBox="1">
            <a:spLocks noGrp="1"/>
          </p:cNvSpPr>
          <p:nvPr>
            <p:ph type="title"/>
          </p:nvPr>
        </p:nvSpPr>
        <p:spPr>
          <a:xfrm>
            <a:off x="1523988" y="-524712"/>
            <a:ext cx="9144000" cy="30633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6600"/>
              <a:buFont typeface="Arial"/>
              <a:buNone/>
            </a:pPr>
            <a:r>
              <a:rPr lang="ja-JP" sz="6600" b="1" dirty="0"/>
              <a:t>考察特化SNS</a:t>
            </a:r>
            <a:br>
              <a:rPr lang="ja-JP" sz="6600" b="1" dirty="0"/>
            </a:br>
            <a:r>
              <a:rPr lang="ja-JP" sz="2800" b="1" dirty="0"/>
              <a:t>Consideration-specific  SNS</a:t>
            </a:r>
            <a:endParaRPr sz="6600" b="1" dirty="0">
              <a:solidFill>
                <a:schemeClr val="lt1"/>
              </a:solidFill>
            </a:endParaRPr>
          </a:p>
        </p:txBody>
      </p:sp>
      <p:sp>
        <p:nvSpPr>
          <p:cNvPr id="208" name="Google Shape;208;g2782ed6f2e9_0_1529"/>
          <p:cNvSpPr txBox="1">
            <a:spLocks noGrp="1"/>
          </p:cNvSpPr>
          <p:nvPr>
            <p:ph type="title"/>
          </p:nvPr>
        </p:nvSpPr>
        <p:spPr>
          <a:xfrm>
            <a:off x="6301388" y="3677913"/>
            <a:ext cx="9144000" cy="30633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6600"/>
              <a:buFont typeface="Arial"/>
              <a:buNone/>
            </a:pPr>
            <a:r>
              <a:rPr lang="ja-JP" sz="2800" b="1" dirty="0"/>
              <a:t>GROUP 8</a:t>
            </a:r>
            <a:endParaRPr sz="6600" b="1" dirty="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2"/>
        <p:cNvGrpSpPr/>
        <p:nvPr/>
      </p:nvGrpSpPr>
      <p:grpSpPr>
        <a:xfrm>
          <a:off x="0" y="0"/>
          <a:ext cx="0" cy="0"/>
          <a:chOff x="0" y="0"/>
          <a:chExt cx="0" cy="0"/>
        </a:xfrm>
      </p:grpSpPr>
      <p:sp>
        <p:nvSpPr>
          <p:cNvPr id="213" name="Google Shape;213;p1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14" name="Google Shape;214;p11"/>
          <p:cNvSpPr/>
          <p:nvPr/>
        </p:nvSpPr>
        <p:spPr>
          <a:xfrm flipH="1">
            <a:off x="-1" y="-1"/>
            <a:ext cx="12191998" cy="1590742"/>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15" name="Google Shape;215;p11"/>
          <p:cNvSpPr/>
          <p:nvPr/>
        </p:nvSpPr>
        <p:spPr>
          <a:xfrm rot="10800000" flipH="1">
            <a:off x="-3" y="0"/>
            <a:ext cx="8115306" cy="1590742"/>
          </a:xfrm>
          <a:prstGeom prst="rect">
            <a:avLst/>
          </a:prstGeom>
          <a:gradFill>
            <a:gsLst>
              <a:gs pos="0">
                <a:srgbClr val="156082">
                  <a:alpha val="0"/>
                </a:srgbClr>
              </a:gs>
              <a:gs pos="20000">
                <a:srgbClr val="156082">
                  <a:alpha val="0"/>
                </a:srgbClr>
              </a:gs>
              <a:gs pos="100000">
                <a:srgbClr val="0A3041">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16" name="Google Shape;216;p11"/>
          <p:cNvSpPr txBox="1">
            <a:spLocks noGrp="1"/>
          </p:cNvSpPr>
          <p:nvPr>
            <p:ph type="title"/>
          </p:nvPr>
        </p:nvSpPr>
        <p:spPr>
          <a:xfrm>
            <a:off x="598714" y="459352"/>
            <a:ext cx="9895951"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concept</a:t>
            </a:r>
            <a:endParaRPr sz="5400" dirty="0">
              <a:solidFill>
                <a:srgbClr val="FFFFFF"/>
              </a:solidFill>
            </a:endParaRPr>
          </a:p>
        </p:txBody>
      </p:sp>
      <p:sp>
        <p:nvSpPr>
          <p:cNvPr id="217" name="Google Shape;217;p11"/>
          <p:cNvSpPr txBox="1">
            <a:spLocks noGrp="1"/>
          </p:cNvSpPr>
          <p:nvPr>
            <p:ph type="body" idx="1"/>
          </p:nvPr>
        </p:nvSpPr>
        <p:spPr>
          <a:xfrm>
            <a:off x="598714" y="2198455"/>
            <a:ext cx="11008545" cy="368335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1F5C99"/>
              </a:buClr>
              <a:buSzPts val="6000"/>
              <a:buNone/>
            </a:pPr>
            <a:r>
              <a:rPr lang="ja-JP" sz="6000" dirty="0">
                <a:solidFill>
                  <a:srgbClr val="6AA84F"/>
                </a:solidFill>
              </a:rPr>
              <a:t>To provide a place </a:t>
            </a:r>
            <a:endParaRPr dirty="0">
              <a:solidFill>
                <a:srgbClr val="6AA84F"/>
              </a:solidFill>
            </a:endParaRPr>
          </a:p>
          <a:p>
            <a:pPr marL="0" lvl="0" indent="0" algn="ctr" rtl="0">
              <a:lnSpc>
                <a:spcPct val="90000"/>
              </a:lnSpc>
              <a:spcBef>
                <a:spcPts val="1000"/>
              </a:spcBef>
              <a:spcAft>
                <a:spcPts val="0"/>
              </a:spcAft>
              <a:buClr>
                <a:srgbClr val="1F5C99"/>
              </a:buClr>
              <a:buSzPts val="6000"/>
              <a:buNone/>
            </a:pPr>
            <a:r>
              <a:rPr lang="ja-JP" sz="6000" dirty="0">
                <a:solidFill>
                  <a:srgbClr val="6AA84F"/>
                </a:solidFill>
              </a:rPr>
              <a:t>for spoiler-free discussion</a:t>
            </a:r>
            <a:endParaRPr sz="3200" dirty="0">
              <a:solidFill>
                <a:srgbClr val="6AA84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2"/>
        <p:cNvGrpSpPr/>
        <p:nvPr/>
      </p:nvGrpSpPr>
      <p:grpSpPr>
        <a:xfrm>
          <a:off x="0" y="0"/>
          <a:ext cx="0" cy="0"/>
          <a:chOff x="0" y="0"/>
          <a:chExt cx="0" cy="0"/>
        </a:xfrm>
      </p:grpSpPr>
      <p:sp>
        <p:nvSpPr>
          <p:cNvPr id="223" name="Google Shape;223;p1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24" name="Google Shape;224;p12"/>
          <p:cNvSpPr/>
          <p:nvPr/>
        </p:nvSpPr>
        <p:spPr>
          <a:xfrm flipH="1">
            <a:off x="-1" y="-1"/>
            <a:ext cx="12191998" cy="1590742"/>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25" name="Google Shape;225;p12"/>
          <p:cNvSpPr/>
          <p:nvPr/>
        </p:nvSpPr>
        <p:spPr>
          <a:xfrm rot="10800000" flipH="1">
            <a:off x="-3" y="0"/>
            <a:ext cx="8115306" cy="1590742"/>
          </a:xfrm>
          <a:prstGeom prst="rect">
            <a:avLst/>
          </a:prstGeom>
          <a:gradFill>
            <a:gsLst>
              <a:gs pos="0">
                <a:srgbClr val="156082">
                  <a:alpha val="0"/>
                </a:srgbClr>
              </a:gs>
              <a:gs pos="20000">
                <a:srgbClr val="156082">
                  <a:alpha val="0"/>
                </a:srgbClr>
              </a:gs>
              <a:gs pos="100000">
                <a:srgbClr val="0A3041">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26" name="Google Shape;226;p12"/>
          <p:cNvSpPr txBox="1">
            <a:spLocks noGrp="1"/>
          </p:cNvSpPr>
          <p:nvPr>
            <p:ph type="title"/>
          </p:nvPr>
        </p:nvSpPr>
        <p:spPr>
          <a:xfrm>
            <a:off x="598714" y="459352"/>
            <a:ext cx="9895951"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background</a:t>
            </a:r>
            <a:endParaRPr sz="5400" dirty="0">
              <a:solidFill>
                <a:srgbClr val="FFFFFF"/>
              </a:solidFill>
            </a:endParaRPr>
          </a:p>
        </p:txBody>
      </p:sp>
      <p:sp>
        <p:nvSpPr>
          <p:cNvPr id="227" name="Google Shape;227;p12"/>
          <p:cNvSpPr txBox="1">
            <a:spLocks noGrp="1"/>
          </p:cNvSpPr>
          <p:nvPr>
            <p:ph type="body" idx="1"/>
          </p:nvPr>
        </p:nvSpPr>
        <p:spPr>
          <a:xfrm>
            <a:off x="-176463" y="1597432"/>
            <a:ext cx="12507823" cy="544562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None/>
            </a:pPr>
            <a:r>
              <a:rPr lang="ja-JP" sz="4000" b="1" u="sng" dirty="0"/>
              <a:t>Discussion Boom</a:t>
            </a:r>
            <a:r>
              <a:rPr lang="ja-JP" sz="2400" u="sng" dirty="0"/>
              <a:t>(comic, animation…)</a:t>
            </a:r>
            <a:endParaRPr dirty="0"/>
          </a:p>
          <a:p>
            <a:pPr marL="0" lvl="0" indent="0" algn="ctr" rtl="0">
              <a:lnSpc>
                <a:spcPct val="90000"/>
              </a:lnSpc>
              <a:spcBef>
                <a:spcPts val="1000"/>
              </a:spcBef>
              <a:spcAft>
                <a:spcPts val="0"/>
              </a:spcAft>
              <a:buClr>
                <a:schemeClr val="dk1"/>
              </a:buClr>
              <a:buSzPts val="3600"/>
              <a:buNone/>
            </a:pPr>
            <a:endParaRPr sz="3600" dirty="0"/>
          </a:p>
          <a:p>
            <a:pPr marL="0" lvl="0" indent="0" algn="ctr" rtl="0">
              <a:lnSpc>
                <a:spcPct val="90000"/>
              </a:lnSpc>
              <a:spcBef>
                <a:spcPts val="1000"/>
              </a:spcBef>
              <a:spcAft>
                <a:spcPts val="0"/>
              </a:spcAft>
              <a:buClr>
                <a:schemeClr val="dk1"/>
              </a:buClr>
              <a:buSzPts val="3600"/>
              <a:buNone/>
            </a:pPr>
            <a:r>
              <a:rPr lang="ja-JP" sz="3600" dirty="0"/>
              <a:t>The discussion will be lively on SNS</a:t>
            </a:r>
            <a:endParaRPr dirty="0"/>
          </a:p>
          <a:p>
            <a:pPr marL="0" lvl="0" indent="0" algn="ctr" rtl="0">
              <a:lnSpc>
                <a:spcPct val="90000"/>
              </a:lnSpc>
              <a:spcBef>
                <a:spcPts val="1000"/>
              </a:spcBef>
              <a:spcAft>
                <a:spcPts val="0"/>
              </a:spcAft>
              <a:buClr>
                <a:schemeClr val="dk1"/>
              </a:buClr>
              <a:buSzPts val="4000"/>
              <a:buNone/>
            </a:pPr>
            <a:endParaRPr sz="4000" dirty="0"/>
          </a:p>
          <a:p>
            <a:pPr marL="0" lvl="0" indent="0" algn="ctr" rtl="0">
              <a:lnSpc>
                <a:spcPct val="90000"/>
              </a:lnSpc>
              <a:spcBef>
                <a:spcPts val="1000"/>
              </a:spcBef>
              <a:spcAft>
                <a:spcPts val="0"/>
              </a:spcAft>
              <a:buClr>
                <a:schemeClr val="dk1"/>
              </a:buClr>
              <a:buSzPts val="3600"/>
              <a:buNone/>
            </a:pPr>
            <a:r>
              <a:rPr lang="ja-JP" sz="3600" dirty="0"/>
              <a:t>Unintentionally spoiled.</a:t>
            </a:r>
            <a:endParaRPr sz="4000" dirty="0"/>
          </a:p>
          <a:p>
            <a:pPr marL="0" lvl="0" indent="0" algn="ctr" rtl="0">
              <a:lnSpc>
                <a:spcPct val="90000"/>
              </a:lnSpc>
              <a:spcBef>
                <a:spcPts val="1000"/>
              </a:spcBef>
              <a:spcAft>
                <a:spcPts val="0"/>
              </a:spcAft>
              <a:buClr>
                <a:srgbClr val="1F5C99"/>
              </a:buClr>
              <a:buSzPts val="3600"/>
              <a:buNone/>
            </a:pPr>
            <a:r>
              <a:rPr lang="ja-JP" sz="3600" dirty="0">
                <a:solidFill>
                  <a:srgbClr val="6AA84F"/>
                </a:solidFill>
              </a:rPr>
              <a:t>「Prevent spoilers」＋「 The discussion will be lively 」</a:t>
            </a:r>
            <a:endParaRPr sz="3600" dirty="0">
              <a:solidFill>
                <a:srgbClr val="6AA84F"/>
              </a:solidFill>
            </a:endParaRPr>
          </a:p>
          <a:p>
            <a:pPr marL="0" lvl="0" indent="0" algn="l" rtl="0">
              <a:lnSpc>
                <a:spcPct val="90000"/>
              </a:lnSpc>
              <a:spcBef>
                <a:spcPts val="1000"/>
              </a:spcBef>
              <a:spcAft>
                <a:spcPts val="0"/>
              </a:spcAft>
              <a:buClr>
                <a:schemeClr val="dk1"/>
              </a:buClr>
              <a:buSzPts val="4000"/>
              <a:buNone/>
            </a:pPr>
            <a:endParaRPr sz="4000" dirty="0"/>
          </a:p>
        </p:txBody>
      </p:sp>
      <p:sp>
        <p:nvSpPr>
          <p:cNvPr id="228" name="Google Shape;228;p12"/>
          <p:cNvSpPr/>
          <p:nvPr/>
        </p:nvSpPr>
        <p:spPr>
          <a:xfrm>
            <a:off x="6140615" y="3889010"/>
            <a:ext cx="370115" cy="664029"/>
          </a:xfrm>
          <a:prstGeom prst="upDownArrow">
            <a:avLst>
              <a:gd name="adj1" fmla="val 50000"/>
              <a:gd name="adj2" fmla="val 50000"/>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2"/>
        <p:cNvGrpSpPr/>
        <p:nvPr/>
      </p:nvGrpSpPr>
      <p:grpSpPr>
        <a:xfrm>
          <a:off x="0" y="0"/>
          <a:ext cx="0" cy="0"/>
          <a:chOff x="0" y="0"/>
          <a:chExt cx="0" cy="0"/>
        </a:xfrm>
      </p:grpSpPr>
      <p:sp>
        <p:nvSpPr>
          <p:cNvPr id="233" name="Google Shape;233;g2e99203a0a5_2_4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34" name="Google Shape;234;g2e99203a0a5_2_49"/>
          <p:cNvSpPr/>
          <p:nvPr/>
        </p:nvSpPr>
        <p:spPr>
          <a:xfrm flipH="1">
            <a:off x="-3" y="-1"/>
            <a:ext cx="12192000" cy="1590600"/>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35" name="Google Shape;235;g2e99203a0a5_2_49"/>
          <p:cNvSpPr/>
          <p:nvPr/>
        </p:nvSpPr>
        <p:spPr>
          <a:xfrm rot="10800000" flipH="1">
            <a:off x="-3" y="142"/>
            <a:ext cx="8115300" cy="1590600"/>
          </a:xfrm>
          <a:prstGeom prst="rect">
            <a:avLst/>
          </a:prstGeom>
          <a:gradFill>
            <a:gsLst>
              <a:gs pos="0">
                <a:srgbClr val="156082">
                  <a:alpha val="0"/>
                </a:srgbClr>
              </a:gs>
              <a:gs pos="20000">
                <a:srgbClr val="156082">
                  <a:alpha val="0"/>
                </a:srgbClr>
              </a:gs>
              <a:gs pos="100000">
                <a:srgbClr val="0A3041">
                  <a:alpha val="54901"/>
                </a:srgbClr>
              </a:gs>
            </a:gsLst>
            <a:lin ang="1380014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36" name="Google Shape;236;g2e99203a0a5_2_49"/>
          <p:cNvSpPr txBox="1">
            <a:spLocks noGrp="1"/>
          </p:cNvSpPr>
          <p:nvPr>
            <p:ph type="title"/>
          </p:nvPr>
        </p:nvSpPr>
        <p:spPr>
          <a:xfrm>
            <a:off x="598714" y="459352"/>
            <a:ext cx="9896100" cy="1033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Lean campus</a:t>
            </a:r>
            <a:endParaRPr sz="5400" dirty="0">
              <a:solidFill>
                <a:srgbClr val="FFFFFF"/>
              </a:solidFill>
            </a:endParaRPr>
          </a:p>
        </p:txBody>
      </p:sp>
      <p:pic>
        <p:nvPicPr>
          <p:cNvPr id="237" name="Google Shape;237;g2e99203a0a5_2_49"/>
          <p:cNvPicPr preferRelativeResize="0"/>
          <p:nvPr/>
        </p:nvPicPr>
        <p:blipFill rotWithShape="1">
          <a:blip r:embed="rId3">
            <a:alphaModFix/>
          </a:blip>
          <a:srcRect/>
          <a:stretch/>
        </p:blipFill>
        <p:spPr>
          <a:xfrm>
            <a:off x="1257452" y="1597432"/>
            <a:ext cx="9896839" cy="517040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1"/>
        <p:cNvGrpSpPr/>
        <p:nvPr/>
      </p:nvGrpSpPr>
      <p:grpSpPr>
        <a:xfrm>
          <a:off x="0" y="0"/>
          <a:ext cx="0" cy="0"/>
          <a:chOff x="0" y="0"/>
          <a:chExt cx="0" cy="0"/>
        </a:xfrm>
      </p:grpSpPr>
      <p:sp>
        <p:nvSpPr>
          <p:cNvPr id="242" name="Google Shape;242;g2e99203a0a5_2_5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メイリオ" panose="020B0604030504040204" pitchFamily="50" charset="-128"/>
              <a:ea typeface="メイリオ" panose="020B0604030504040204" pitchFamily="50" charset="-128"/>
              <a:sym typeface="Arial"/>
            </a:endParaRPr>
          </a:p>
        </p:txBody>
      </p:sp>
      <p:sp>
        <p:nvSpPr>
          <p:cNvPr id="243" name="Google Shape;243;g2e99203a0a5_2_59"/>
          <p:cNvSpPr/>
          <p:nvPr/>
        </p:nvSpPr>
        <p:spPr>
          <a:xfrm flipH="1">
            <a:off x="-3" y="-1"/>
            <a:ext cx="12192000" cy="1590600"/>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メイリオ" panose="020B0604030504040204" pitchFamily="50" charset="-128"/>
              <a:ea typeface="メイリオ" panose="020B0604030504040204" pitchFamily="50" charset="-128"/>
              <a:sym typeface="Arial"/>
            </a:endParaRPr>
          </a:p>
        </p:txBody>
      </p:sp>
      <p:sp>
        <p:nvSpPr>
          <p:cNvPr id="244" name="Google Shape;244;g2e99203a0a5_2_59"/>
          <p:cNvSpPr/>
          <p:nvPr/>
        </p:nvSpPr>
        <p:spPr>
          <a:xfrm rot="10800000" flipH="1">
            <a:off x="-3" y="142"/>
            <a:ext cx="8115300" cy="1590600"/>
          </a:xfrm>
          <a:prstGeom prst="rect">
            <a:avLst/>
          </a:prstGeom>
          <a:gradFill>
            <a:gsLst>
              <a:gs pos="0">
                <a:srgbClr val="156082">
                  <a:alpha val="0"/>
                </a:srgbClr>
              </a:gs>
              <a:gs pos="20000">
                <a:srgbClr val="156082">
                  <a:alpha val="0"/>
                </a:srgbClr>
              </a:gs>
              <a:gs pos="100000">
                <a:srgbClr val="0A3041">
                  <a:alpha val="54901"/>
                </a:srgbClr>
              </a:gs>
            </a:gsLst>
            <a:lin ang="1380014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メイリオ" panose="020B0604030504040204" pitchFamily="50" charset="-128"/>
              <a:ea typeface="メイリオ" panose="020B0604030504040204" pitchFamily="50" charset="-128"/>
              <a:sym typeface="Arial"/>
            </a:endParaRPr>
          </a:p>
        </p:txBody>
      </p:sp>
      <p:sp>
        <p:nvSpPr>
          <p:cNvPr id="245" name="Google Shape;245;g2e99203a0a5_2_59"/>
          <p:cNvSpPr txBox="1">
            <a:spLocks noGrp="1"/>
          </p:cNvSpPr>
          <p:nvPr>
            <p:ph type="title"/>
          </p:nvPr>
        </p:nvSpPr>
        <p:spPr>
          <a:xfrm>
            <a:off x="598714" y="459352"/>
            <a:ext cx="9896100" cy="1033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persona</a:t>
            </a:r>
            <a:endParaRPr sz="5400" dirty="0">
              <a:solidFill>
                <a:srgbClr val="FFFFFF"/>
              </a:solidFill>
            </a:endParaRPr>
          </a:p>
        </p:txBody>
      </p:sp>
      <p:pic>
        <p:nvPicPr>
          <p:cNvPr id="246" name="Google Shape;246;g2e99203a0a5_2_59" descr="男性のプロフィール 枠線"/>
          <p:cNvPicPr preferRelativeResize="0"/>
          <p:nvPr/>
        </p:nvPicPr>
        <p:blipFill rotWithShape="1">
          <a:blip r:embed="rId3">
            <a:alphaModFix/>
          </a:blip>
          <a:srcRect/>
          <a:stretch/>
        </p:blipFill>
        <p:spPr>
          <a:xfrm>
            <a:off x="829819" y="2967305"/>
            <a:ext cx="2317432" cy="2317432"/>
          </a:xfrm>
          <a:prstGeom prst="rect">
            <a:avLst/>
          </a:prstGeom>
          <a:noFill/>
          <a:ln>
            <a:noFill/>
          </a:ln>
        </p:spPr>
      </p:pic>
      <p:sp>
        <p:nvSpPr>
          <p:cNvPr id="247" name="Google Shape;247;g2e99203a0a5_2_59"/>
          <p:cNvSpPr txBox="1"/>
          <p:nvPr/>
        </p:nvSpPr>
        <p:spPr>
          <a:xfrm>
            <a:off x="3157350" y="2476475"/>
            <a:ext cx="3141900" cy="39702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b="1" i="0" u="none" strike="noStrike" cap="none" dirty="0">
                <a:solidFill>
                  <a:schemeClr val="dk1"/>
                </a:solidFill>
                <a:latin typeface="メイリオ" panose="020B0604030504040204" pitchFamily="50" charset="-128"/>
                <a:ea typeface="メイリオ" panose="020B0604030504040204" pitchFamily="50" charset="-128"/>
                <a:sym typeface="Arial"/>
              </a:rPr>
              <a:t>  </a:t>
            </a:r>
            <a:r>
              <a:rPr lang="ja-JP" sz="1800" b="1" dirty="0">
                <a:solidFill>
                  <a:schemeClr val="dk1"/>
                </a:solidFill>
                <a:latin typeface="メイリオ" panose="020B0604030504040204" pitchFamily="50" charset="-128"/>
                <a:ea typeface="メイリオ" panose="020B0604030504040204" pitchFamily="50" charset="-128"/>
              </a:rPr>
              <a:t>21years old　man</a:t>
            </a: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1800" b="1" dirty="0">
                <a:solidFill>
                  <a:schemeClr val="dk1"/>
                </a:solidFill>
                <a:latin typeface="メイリオ" panose="020B0604030504040204" pitchFamily="50" charset="-128"/>
                <a:ea typeface="メイリオ" panose="020B0604030504040204" pitchFamily="50" charset="-128"/>
              </a:rPr>
              <a:t>Read Kingdam in book form every weekend</a:t>
            </a: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1800" b="1" dirty="0">
                <a:solidFill>
                  <a:schemeClr val="dk1"/>
                </a:solidFill>
                <a:latin typeface="メイリオ" panose="020B0604030504040204" pitchFamily="50" charset="-128"/>
                <a:ea typeface="メイリオ" panose="020B0604030504040204" pitchFamily="50" charset="-128"/>
              </a:rPr>
              <a:t>Subscribe to Jump every Monday</a:t>
            </a: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1800" b="1" dirty="0">
                <a:solidFill>
                  <a:schemeClr val="dk1"/>
                </a:solidFill>
                <a:latin typeface="メイリオ" panose="020B0604030504040204" pitchFamily="50" charset="-128"/>
                <a:ea typeface="メイリオ" panose="020B0604030504040204" pitchFamily="50" charset="-128"/>
              </a:rPr>
              <a:t>Favorite manga: DeathNote, The Promised Neverland, One Piece, Hunter Hunter, etc.</a:t>
            </a: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1800" b="1" dirty="0">
              <a:solidFill>
                <a:schemeClr val="dk1"/>
              </a:solidFill>
              <a:latin typeface="メイリオ" panose="020B0604030504040204" pitchFamily="50" charset="-128"/>
              <a:ea typeface="メイリオ" panose="020B0604030504040204" pitchFamily="50" charset="-128"/>
            </a:endParaRPr>
          </a:p>
        </p:txBody>
      </p:sp>
      <p:sp>
        <p:nvSpPr>
          <p:cNvPr id="248" name="Google Shape;248;g2e99203a0a5_2_59"/>
          <p:cNvSpPr txBox="1"/>
          <p:nvPr/>
        </p:nvSpPr>
        <p:spPr>
          <a:xfrm>
            <a:off x="6668475" y="2478600"/>
            <a:ext cx="3141900" cy="369327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b="1" dirty="0">
                <a:solidFill>
                  <a:schemeClr val="dk1"/>
                </a:solidFill>
                <a:latin typeface="メイリオ" panose="020B0604030504040204" pitchFamily="50" charset="-128"/>
                <a:ea typeface="メイリオ" panose="020B0604030504040204" pitchFamily="50" charset="-128"/>
              </a:rPr>
              <a:t>・Hard to post thoughts on X, etc. for fear of spoilers.</a:t>
            </a: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1800" b="1" dirty="0">
                <a:solidFill>
                  <a:schemeClr val="dk1"/>
                </a:solidFill>
                <a:latin typeface="メイリオ" panose="020B0604030504040204" pitchFamily="50" charset="-128"/>
                <a:ea typeface="メイリオ" panose="020B0604030504040204" pitchFamily="50" charset="-128"/>
              </a:rPr>
              <a:t>・I sometimes watch discussion videos on youtube.</a:t>
            </a: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1800" b="1" dirty="0">
                <a:solidFill>
                  <a:schemeClr val="dk1"/>
                </a:solidFill>
                <a:latin typeface="メイリオ" panose="020B0604030504040204" pitchFamily="50" charset="-128"/>
                <a:ea typeface="メイリオ" panose="020B0604030504040204" pitchFamily="50" charset="-128"/>
              </a:rPr>
              <a:t>・I want to share my reflections with others.</a:t>
            </a: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1800" b="1" dirty="0">
                <a:solidFill>
                  <a:schemeClr val="dk1"/>
                </a:solidFill>
                <a:latin typeface="メイリオ" panose="020B0604030504040204" pitchFamily="50" charset="-128"/>
                <a:ea typeface="メイリオ" panose="020B0604030504040204" pitchFamily="50" charset="-128"/>
              </a:rPr>
              <a:t>・I want to read it while looking back at the considerations of the time of the Kingdom.</a:t>
            </a:r>
            <a:endParaRPr sz="1800" b="1"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1800" b="1" dirty="0">
              <a:solidFill>
                <a:schemeClr val="dk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2"/>
        <p:cNvGrpSpPr/>
        <p:nvPr/>
      </p:nvGrpSpPr>
      <p:grpSpPr>
        <a:xfrm>
          <a:off x="0" y="0"/>
          <a:ext cx="0" cy="0"/>
          <a:chOff x="0" y="0"/>
          <a:chExt cx="0" cy="0"/>
        </a:xfrm>
      </p:grpSpPr>
      <p:sp>
        <p:nvSpPr>
          <p:cNvPr id="253" name="Google Shape;253;p1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54" name="Google Shape;254;p15"/>
          <p:cNvSpPr/>
          <p:nvPr/>
        </p:nvSpPr>
        <p:spPr>
          <a:xfrm flipH="1">
            <a:off x="-1" y="-1"/>
            <a:ext cx="12191998" cy="1590742"/>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55" name="Google Shape;255;p15"/>
          <p:cNvSpPr/>
          <p:nvPr/>
        </p:nvSpPr>
        <p:spPr>
          <a:xfrm rot="10800000" flipH="1">
            <a:off x="-3" y="0"/>
            <a:ext cx="8115306" cy="1590742"/>
          </a:xfrm>
          <a:prstGeom prst="rect">
            <a:avLst/>
          </a:prstGeom>
          <a:gradFill>
            <a:gsLst>
              <a:gs pos="0">
                <a:srgbClr val="156082">
                  <a:alpha val="0"/>
                </a:srgbClr>
              </a:gs>
              <a:gs pos="20000">
                <a:srgbClr val="156082">
                  <a:alpha val="0"/>
                </a:srgbClr>
              </a:gs>
              <a:gs pos="100000">
                <a:srgbClr val="0A3041">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56" name="Google Shape;256;p15"/>
          <p:cNvSpPr txBox="1">
            <a:spLocks noGrp="1"/>
          </p:cNvSpPr>
          <p:nvPr>
            <p:ph type="title"/>
          </p:nvPr>
        </p:nvSpPr>
        <p:spPr>
          <a:xfrm>
            <a:off x="598714" y="459352"/>
            <a:ext cx="9895951"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App Function</a:t>
            </a:r>
            <a:endParaRPr sz="5400" dirty="0">
              <a:solidFill>
                <a:srgbClr val="FFFFFF"/>
              </a:solidFill>
            </a:endParaRPr>
          </a:p>
        </p:txBody>
      </p:sp>
      <p:sp>
        <p:nvSpPr>
          <p:cNvPr id="257" name="Google Shape;257;p15"/>
          <p:cNvSpPr txBox="1"/>
          <p:nvPr/>
        </p:nvSpPr>
        <p:spPr>
          <a:xfrm>
            <a:off x="794655" y="2056784"/>
            <a:ext cx="11140671" cy="48012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3600" b="1" u="sng" dirty="0">
                <a:solidFill>
                  <a:schemeClr val="dk1"/>
                </a:solidFill>
                <a:latin typeface="メイリオ" panose="020B0604030504040204" pitchFamily="50" charset="-128"/>
                <a:ea typeface="メイリオ" panose="020B0604030504040204" pitchFamily="50" charset="-128"/>
                <a:sym typeface="Arial"/>
              </a:rPr>
              <a:t>Required</a:t>
            </a:r>
            <a:endParaRPr dirty="0">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3600" dirty="0">
                <a:solidFill>
                  <a:schemeClr val="dk1"/>
                </a:solidFill>
                <a:latin typeface="メイリオ" panose="020B0604030504040204" pitchFamily="50" charset="-128"/>
                <a:ea typeface="メイリオ" panose="020B0604030504040204" pitchFamily="50" charset="-128"/>
                <a:sym typeface="Arial"/>
              </a:rPr>
              <a:t>・timeline</a:t>
            </a:r>
            <a:endParaRPr dirty="0">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3600" dirty="0">
                <a:solidFill>
                  <a:schemeClr val="dk1"/>
                </a:solidFill>
                <a:latin typeface="メイリオ" panose="020B0604030504040204" pitchFamily="50" charset="-128"/>
                <a:ea typeface="メイリオ" panose="020B0604030504040204" pitchFamily="50" charset="-128"/>
                <a:sym typeface="Arial"/>
              </a:rPr>
              <a:t>・function to hide posts by people who are  reading </a:t>
            </a:r>
            <a:endParaRPr dirty="0">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3600" dirty="0">
                <a:solidFill>
                  <a:schemeClr val="dk1"/>
                </a:solidFill>
                <a:latin typeface="メイリオ" panose="020B0604030504040204" pitchFamily="50" charset="-128"/>
                <a:ea typeface="メイリオ" panose="020B0604030504040204" pitchFamily="50" charset="-128"/>
                <a:sym typeface="Arial"/>
              </a:rPr>
              <a:t>   ahead of the user</a:t>
            </a:r>
            <a:endParaRPr dirty="0">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36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endParaRPr sz="36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endParaRPr sz="36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endParaRPr sz="1800" dirty="0">
              <a:solidFill>
                <a:schemeClr val="dk1"/>
              </a:solidFill>
              <a:latin typeface="メイリオ" panose="020B0604030504040204" pitchFamily="50" charset="-128"/>
              <a:ea typeface="メイリオ" panose="020B0604030504040204" pitchFamily="50" charset="-128"/>
              <a:sym typeface="Arial"/>
            </a:endParaRPr>
          </a:p>
        </p:txBody>
      </p:sp>
      <p:sp>
        <p:nvSpPr>
          <p:cNvPr id="258" name="Google Shape;258;p15"/>
          <p:cNvSpPr txBox="1"/>
          <p:nvPr/>
        </p:nvSpPr>
        <p:spPr>
          <a:xfrm>
            <a:off x="794655" y="4321012"/>
            <a:ext cx="9118202" cy="53552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3600" b="1" u="sng" dirty="0">
                <a:solidFill>
                  <a:schemeClr val="dk1"/>
                </a:solidFill>
                <a:latin typeface="メイリオ" panose="020B0604030504040204" pitchFamily="50" charset="-128"/>
                <a:ea typeface="メイリオ" panose="020B0604030504040204" pitchFamily="50" charset="-128"/>
                <a:sym typeface="Arial"/>
              </a:rPr>
              <a:t>Additional </a:t>
            </a:r>
            <a:endParaRPr dirty="0">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3600" dirty="0">
                <a:solidFill>
                  <a:schemeClr val="dk1"/>
                </a:solidFill>
                <a:latin typeface="メイリオ" panose="020B0604030504040204" pitchFamily="50" charset="-128"/>
                <a:ea typeface="メイリオ" panose="020B0604030504040204" pitchFamily="50" charset="-128"/>
                <a:sym typeface="Arial"/>
              </a:rPr>
              <a:t>・Consideration Topic Classification by AI</a:t>
            </a:r>
            <a:endParaRPr dirty="0">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3600" dirty="0">
                <a:solidFill>
                  <a:schemeClr val="dk1"/>
                </a:solidFill>
                <a:latin typeface="メイリオ" panose="020B0604030504040204" pitchFamily="50" charset="-128"/>
                <a:ea typeface="メイリオ" panose="020B0604030504040204" pitchFamily="50" charset="-128"/>
                <a:sym typeface="Arial"/>
              </a:rPr>
              <a:t>・Recommendation of other works by AI</a:t>
            </a:r>
            <a:endParaRPr dirty="0">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3600" dirty="0">
                <a:solidFill>
                  <a:schemeClr val="dk1"/>
                </a:solidFill>
                <a:latin typeface="メイリオ" panose="020B0604030504040204" pitchFamily="50" charset="-128"/>
                <a:ea typeface="メイリオ" panose="020B0604030504040204" pitchFamily="50" charset="-128"/>
                <a:sym typeface="Arial"/>
              </a:rPr>
              <a:t>and more?</a:t>
            </a:r>
            <a:endParaRPr dirty="0">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36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endParaRPr sz="36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endParaRPr sz="36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endParaRPr sz="1800" dirty="0">
              <a:solidFill>
                <a:schemeClr val="dk1"/>
              </a:solidFill>
              <a:latin typeface="メイリオ" panose="020B0604030504040204" pitchFamily="50" charset="-128"/>
              <a:ea typeface="メイリオ" panose="020B0604030504040204" pitchFamily="50" charset="-128"/>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2"/>
        <p:cNvGrpSpPr/>
        <p:nvPr/>
      </p:nvGrpSpPr>
      <p:grpSpPr>
        <a:xfrm>
          <a:off x="0" y="0"/>
          <a:ext cx="0" cy="0"/>
          <a:chOff x="0" y="0"/>
          <a:chExt cx="0" cy="0"/>
        </a:xfrm>
      </p:grpSpPr>
      <p:sp>
        <p:nvSpPr>
          <p:cNvPr id="263" name="Google Shape;263;g2edc8a47b3c_1_60"/>
          <p:cNvSpPr/>
          <p:nvPr/>
        </p:nvSpPr>
        <p:spPr>
          <a:xfrm flipH="1">
            <a:off x="-3" y="-1"/>
            <a:ext cx="12192000" cy="1590600"/>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64" name="Google Shape;264;g2edc8a47b3c_1_60"/>
          <p:cNvSpPr/>
          <p:nvPr/>
        </p:nvSpPr>
        <p:spPr>
          <a:xfrm rot="10800000" flipH="1">
            <a:off x="-3" y="142"/>
            <a:ext cx="8115300" cy="1590600"/>
          </a:xfrm>
          <a:prstGeom prst="rect">
            <a:avLst/>
          </a:prstGeom>
          <a:gradFill>
            <a:gsLst>
              <a:gs pos="0">
                <a:srgbClr val="156082">
                  <a:alpha val="0"/>
                </a:srgbClr>
              </a:gs>
              <a:gs pos="20000">
                <a:srgbClr val="156082">
                  <a:alpha val="0"/>
                </a:srgbClr>
              </a:gs>
              <a:gs pos="100000">
                <a:srgbClr val="0A3041">
                  <a:alpha val="54901"/>
                </a:srgbClr>
              </a:gs>
            </a:gsLst>
            <a:lin ang="1380014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65" name="Google Shape;265;g2edc8a47b3c_1_60"/>
          <p:cNvSpPr txBox="1">
            <a:spLocks noGrp="1"/>
          </p:cNvSpPr>
          <p:nvPr>
            <p:ph type="title"/>
          </p:nvPr>
        </p:nvSpPr>
        <p:spPr>
          <a:xfrm>
            <a:off x="598714" y="459352"/>
            <a:ext cx="9896100" cy="1033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App Screen</a:t>
            </a:r>
            <a:endParaRPr sz="5400" dirty="0">
              <a:solidFill>
                <a:srgbClr val="FFFFFF"/>
              </a:solidFill>
            </a:endParaRPr>
          </a:p>
        </p:txBody>
      </p:sp>
      <p:sp>
        <p:nvSpPr>
          <p:cNvPr id="266" name="Google Shape;266;g2edc8a47b3c_1_60"/>
          <p:cNvSpPr txBox="1"/>
          <p:nvPr/>
        </p:nvSpPr>
        <p:spPr>
          <a:xfrm>
            <a:off x="2260450" y="6018175"/>
            <a:ext cx="10420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sz="2800" dirty="0">
                <a:solidFill>
                  <a:schemeClr val="dk1"/>
                </a:solidFill>
                <a:latin typeface="メイリオ" panose="020B0604030504040204" pitchFamily="50" charset="-128"/>
                <a:ea typeface="メイリオ" panose="020B0604030504040204" pitchFamily="50" charset="-128"/>
              </a:rPr>
              <a:t>Home Screen</a:t>
            </a:r>
            <a:endParaRPr sz="2800" dirty="0">
              <a:solidFill>
                <a:schemeClr val="dk1"/>
              </a:solidFill>
              <a:latin typeface="メイリオ" panose="020B0604030504040204" pitchFamily="50" charset="-128"/>
              <a:ea typeface="メイリオ" panose="020B0604030504040204" pitchFamily="50" charset="-128"/>
            </a:endParaRPr>
          </a:p>
        </p:txBody>
      </p:sp>
      <p:pic>
        <p:nvPicPr>
          <p:cNvPr id="267" name="Google Shape;267;g2edc8a47b3c_1_60"/>
          <p:cNvPicPr preferRelativeResize="0"/>
          <p:nvPr/>
        </p:nvPicPr>
        <p:blipFill>
          <a:blip r:embed="rId3">
            <a:alphaModFix/>
          </a:blip>
          <a:stretch>
            <a:fillRect/>
          </a:stretch>
        </p:blipFill>
        <p:spPr>
          <a:xfrm>
            <a:off x="746600" y="3243525"/>
            <a:ext cx="4878152" cy="2164649"/>
          </a:xfrm>
          <a:prstGeom prst="rect">
            <a:avLst/>
          </a:prstGeom>
          <a:noFill/>
          <a:ln>
            <a:noFill/>
          </a:ln>
        </p:spPr>
      </p:pic>
      <p:pic>
        <p:nvPicPr>
          <p:cNvPr id="268" name="Google Shape;268;g2edc8a47b3c_1_60"/>
          <p:cNvPicPr preferRelativeResize="0"/>
          <p:nvPr/>
        </p:nvPicPr>
        <p:blipFill>
          <a:blip r:embed="rId4">
            <a:alphaModFix/>
          </a:blip>
          <a:stretch>
            <a:fillRect/>
          </a:stretch>
        </p:blipFill>
        <p:spPr>
          <a:xfrm>
            <a:off x="6344925" y="3133039"/>
            <a:ext cx="5532985" cy="2385624"/>
          </a:xfrm>
          <a:prstGeom prst="rect">
            <a:avLst/>
          </a:prstGeom>
          <a:noFill/>
          <a:ln>
            <a:noFill/>
          </a:ln>
        </p:spPr>
      </p:pic>
      <p:sp>
        <p:nvSpPr>
          <p:cNvPr id="269" name="Google Shape;269;g2edc8a47b3c_1_60"/>
          <p:cNvSpPr txBox="1"/>
          <p:nvPr/>
        </p:nvSpPr>
        <p:spPr>
          <a:xfrm>
            <a:off x="7265000" y="6018175"/>
            <a:ext cx="10420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sz="2800" dirty="0">
                <a:solidFill>
                  <a:schemeClr val="dk1"/>
                </a:solidFill>
                <a:latin typeface="メイリオ" panose="020B0604030504040204" pitchFamily="50" charset="-128"/>
                <a:ea typeface="メイリオ" panose="020B0604030504040204" pitchFamily="50" charset="-128"/>
              </a:rPr>
              <a:t>Timeline Screen</a:t>
            </a:r>
            <a:endParaRPr sz="2800" dirty="0">
              <a:solidFill>
                <a:schemeClr val="dk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3"/>
        <p:cNvGrpSpPr/>
        <p:nvPr/>
      </p:nvGrpSpPr>
      <p:grpSpPr>
        <a:xfrm>
          <a:off x="0" y="0"/>
          <a:ext cx="0" cy="0"/>
          <a:chOff x="0" y="0"/>
          <a:chExt cx="0" cy="0"/>
        </a:xfrm>
      </p:grpSpPr>
      <p:sp>
        <p:nvSpPr>
          <p:cNvPr id="274" name="Google Shape;274;g2edc8a47b3c_1_70"/>
          <p:cNvSpPr/>
          <p:nvPr/>
        </p:nvSpPr>
        <p:spPr>
          <a:xfrm flipH="1">
            <a:off x="-3" y="-1"/>
            <a:ext cx="12192000" cy="1590600"/>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75" name="Google Shape;275;g2edc8a47b3c_1_70"/>
          <p:cNvSpPr/>
          <p:nvPr/>
        </p:nvSpPr>
        <p:spPr>
          <a:xfrm rot="10800000" flipH="1">
            <a:off x="-3" y="142"/>
            <a:ext cx="8115300" cy="1590600"/>
          </a:xfrm>
          <a:prstGeom prst="rect">
            <a:avLst/>
          </a:prstGeom>
          <a:gradFill>
            <a:gsLst>
              <a:gs pos="0">
                <a:srgbClr val="156082">
                  <a:alpha val="0"/>
                </a:srgbClr>
              </a:gs>
              <a:gs pos="20000">
                <a:srgbClr val="156082">
                  <a:alpha val="0"/>
                </a:srgbClr>
              </a:gs>
              <a:gs pos="100000">
                <a:srgbClr val="0A3041">
                  <a:alpha val="54901"/>
                </a:srgbClr>
              </a:gs>
            </a:gsLst>
            <a:lin ang="1380014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76" name="Google Shape;276;g2edc8a47b3c_1_70"/>
          <p:cNvSpPr txBox="1">
            <a:spLocks noGrp="1"/>
          </p:cNvSpPr>
          <p:nvPr>
            <p:ph type="title"/>
          </p:nvPr>
        </p:nvSpPr>
        <p:spPr>
          <a:xfrm>
            <a:off x="598714" y="459352"/>
            <a:ext cx="9896100" cy="1033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demo</a:t>
            </a:r>
            <a:endParaRPr sz="5400" dirty="0">
              <a:solidFill>
                <a:srgbClr val="FFFFFF"/>
              </a:solidFill>
            </a:endParaRPr>
          </a:p>
        </p:txBody>
      </p:sp>
      <p:pic>
        <p:nvPicPr>
          <p:cNvPr id="277" name="Google Shape;277;g2edc8a47b3c_1_70" title="Vite + React + TS および他 8 ページ - 個人 - Microsoft​ Edge 2024-07-23 13-10-21.mp4">
            <a:hlinkClick r:id="rId3"/>
          </p:cNvPr>
          <p:cNvPicPr preferRelativeResize="0"/>
          <p:nvPr/>
        </p:nvPicPr>
        <p:blipFill>
          <a:blip r:embed="rId4">
            <a:alphaModFix/>
          </a:blip>
          <a:stretch>
            <a:fillRect/>
          </a:stretch>
        </p:blipFill>
        <p:spPr>
          <a:xfrm>
            <a:off x="1042525" y="1590592"/>
            <a:ext cx="9452299" cy="496245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1"/>
        <p:cNvGrpSpPr/>
        <p:nvPr/>
      </p:nvGrpSpPr>
      <p:grpSpPr>
        <a:xfrm>
          <a:off x="0" y="0"/>
          <a:ext cx="0" cy="0"/>
          <a:chOff x="0" y="0"/>
          <a:chExt cx="0" cy="0"/>
        </a:xfrm>
      </p:grpSpPr>
      <p:sp>
        <p:nvSpPr>
          <p:cNvPr id="282" name="Google Shape;282;g2e99203a0a5_2_1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83" name="Google Shape;283;g2e99203a0a5_2_19"/>
          <p:cNvSpPr/>
          <p:nvPr/>
        </p:nvSpPr>
        <p:spPr>
          <a:xfrm flipH="1">
            <a:off x="-3" y="-1"/>
            <a:ext cx="12192000" cy="1590600"/>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84" name="Google Shape;284;g2e99203a0a5_2_19"/>
          <p:cNvSpPr/>
          <p:nvPr/>
        </p:nvSpPr>
        <p:spPr>
          <a:xfrm rot="10800000" flipH="1">
            <a:off x="-3" y="142"/>
            <a:ext cx="8115300" cy="1590600"/>
          </a:xfrm>
          <a:prstGeom prst="rect">
            <a:avLst/>
          </a:prstGeom>
          <a:gradFill>
            <a:gsLst>
              <a:gs pos="0">
                <a:srgbClr val="156082">
                  <a:alpha val="0"/>
                </a:srgbClr>
              </a:gs>
              <a:gs pos="20000">
                <a:srgbClr val="156082">
                  <a:alpha val="0"/>
                </a:srgbClr>
              </a:gs>
              <a:gs pos="100000">
                <a:srgbClr val="0A3041">
                  <a:alpha val="54901"/>
                </a:srgbClr>
              </a:gs>
            </a:gsLst>
            <a:lin ang="1380014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85" name="Google Shape;285;g2e99203a0a5_2_19"/>
          <p:cNvSpPr txBox="1">
            <a:spLocks noGrp="1"/>
          </p:cNvSpPr>
          <p:nvPr>
            <p:ph type="title"/>
          </p:nvPr>
        </p:nvSpPr>
        <p:spPr>
          <a:xfrm>
            <a:off x="598714" y="459352"/>
            <a:ext cx="9896100" cy="1033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Share</a:t>
            </a:r>
            <a:endParaRPr sz="5400" dirty="0">
              <a:solidFill>
                <a:srgbClr val="FFFFFF"/>
              </a:solidFill>
            </a:endParaRPr>
          </a:p>
        </p:txBody>
      </p:sp>
      <p:sp>
        <p:nvSpPr>
          <p:cNvPr id="286" name="Google Shape;286;g2e99203a0a5_2_19"/>
          <p:cNvSpPr txBox="1"/>
          <p:nvPr/>
        </p:nvSpPr>
        <p:spPr>
          <a:xfrm>
            <a:off x="794650" y="2056775"/>
            <a:ext cx="11085300" cy="34162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b="1" u="sng" dirty="0">
                <a:solidFill>
                  <a:schemeClr val="dk1"/>
                </a:solidFill>
                <a:latin typeface="メイリオ" panose="020B0604030504040204" pitchFamily="50" charset="-128"/>
                <a:ea typeface="メイリオ" panose="020B0604030504040204" pitchFamily="50" charset="-128"/>
              </a:rPr>
              <a:t>frontend（REACT）</a:t>
            </a:r>
            <a:endParaRPr sz="2400" b="1"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rPr>
              <a:t>平尾喜洋（Home、Timeline、Logo design）</a:t>
            </a:r>
            <a:endParaRPr sz="2400"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rPr>
              <a:t>武田晃知（Timeline、Profile）</a:t>
            </a:r>
            <a:endParaRPr sz="2400"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rPr>
              <a:t>岡山祐大（User authentication、Color design）</a:t>
            </a:r>
            <a:endParaRPr sz="2400"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24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r>
              <a:rPr lang="ja-JP" sz="2400" b="1" u="sng" dirty="0">
                <a:solidFill>
                  <a:schemeClr val="dk1"/>
                </a:solidFill>
                <a:latin typeface="メイリオ" panose="020B0604030504040204" pitchFamily="50" charset="-128"/>
                <a:ea typeface="メイリオ" panose="020B0604030504040204" pitchFamily="50" charset="-128"/>
              </a:rPr>
              <a:t>backend（Django, GO,gRPC）</a:t>
            </a:r>
            <a:endParaRPr sz="2400" b="1" u="sng"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rPr>
              <a:t>山本紘輝（Database ;user_status,title,chapter）</a:t>
            </a:r>
            <a:endParaRPr sz="24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rPr>
              <a:t>Xu Zibo（Database; user,post,good,Connecting Python and GO using gRPC）</a:t>
            </a:r>
            <a:endParaRPr sz="2400" dirty="0">
              <a:solidFill>
                <a:schemeClr val="dk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0"/>
        <p:cNvGrpSpPr/>
        <p:nvPr/>
      </p:nvGrpSpPr>
      <p:grpSpPr>
        <a:xfrm>
          <a:off x="0" y="0"/>
          <a:ext cx="0" cy="0"/>
          <a:chOff x="0" y="0"/>
          <a:chExt cx="0" cy="0"/>
        </a:xfrm>
      </p:grpSpPr>
      <p:sp>
        <p:nvSpPr>
          <p:cNvPr id="291" name="Google Shape;291;g2edc8a47b3c_1_4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92" name="Google Shape;292;g2edc8a47b3c_1_43"/>
          <p:cNvSpPr/>
          <p:nvPr/>
        </p:nvSpPr>
        <p:spPr>
          <a:xfrm flipH="1">
            <a:off x="-3" y="-1"/>
            <a:ext cx="12192000" cy="1590600"/>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93" name="Google Shape;293;g2edc8a47b3c_1_43"/>
          <p:cNvSpPr/>
          <p:nvPr/>
        </p:nvSpPr>
        <p:spPr>
          <a:xfrm rot="10800000" flipH="1">
            <a:off x="-3" y="142"/>
            <a:ext cx="8115300" cy="1590600"/>
          </a:xfrm>
          <a:prstGeom prst="rect">
            <a:avLst/>
          </a:prstGeom>
          <a:gradFill>
            <a:gsLst>
              <a:gs pos="0">
                <a:srgbClr val="156082">
                  <a:alpha val="0"/>
                </a:srgbClr>
              </a:gs>
              <a:gs pos="20000">
                <a:srgbClr val="156082">
                  <a:alpha val="0"/>
                </a:srgbClr>
              </a:gs>
              <a:gs pos="100000">
                <a:srgbClr val="0A3041">
                  <a:alpha val="54901"/>
                </a:srgbClr>
              </a:gs>
            </a:gsLst>
            <a:lin ang="1380014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294" name="Google Shape;294;g2edc8a47b3c_1_43"/>
          <p:cNvSpPr txBox="1">
            <a:spLocks noGrp="1"/>
          </p:cNvSpPr>
          <p:nvPr>
            <p:ph type="title"/>
          </p:nvPr>
        </p:nvSpPr>
        <p:spPr>
          <a:xfrm>
            <a:off x="598714" y="459352"/>
            <a:ext cx="9896100" cy="1033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Future Prospects</a:t>
            </a:r>
            <a:endParaRPr sz="5400" dirty="0">
              <a:solidFill>
                <a:srgbClr val="FFFFFF"/>
              </a:solidFill>
            </a:endParaRPr>
          </a:p>
        </p:txBody>
      </p:sp>
      <p:sp>
        <p:nvSpPr>
          <p:cNvPr id="295" name="Google Shape;295;g2edc8a47b3c_1_43"/>
          <p:cNvSpPr txBox="1"/>
          <p:nvPr/>
        </p:nvSpPr>
        <p:spPr>
          <a:xfrm>
            <a:off x="433950" y="1686300"/>
            <a:ext cx="11324100" cy="517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200" b="1" u="sng" dirty="0">
                <a:solidFill>
                  <a:schemeClr val="dk1"/>
                </a:solidFill>
                <a:latin typeface="メイリオ" panose="020B0604030504040204" pitchFamily="50" charset="-128"/>
                <a:ea typeface="メイリオ" panose="020B0604030504040204" pitchFamily="50" charset="-128"/>
              </a:rPr>
              <a:t>Automatic genre classification</a:t>
            </a:r>
            <a:endParaRPr sz="2200" b="1"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200" dirty="0">
                <a:solidFill>
                  <a:schemeClr val="dk1"/>
                </a:solidFill>
                <a:latin typeface="メイリオ" panose="020B0604030504040204" pitchFamily="50" charset="-128"/>
                <a:ea typeface="メイリオ" panose="020B0604030504040204" pitchFamily="50" charset="-128"/>
              </a:rPr>
              <a:t>Separate titles based on posted comments</a:t>
            </a:r>
            <a:endParaRPr sz="2200"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2200" dirty="0">
                <a:solidFill>
                  <a:schemeClr val="dk1"/>
                </a:solidFill>
                <a:latin typeface="メイリオ" panose="020B0604030504040204" pitchFamily="50" charset="-128"/>
                <a:ea typeface="メイリオ" panose="020B0604030504040204" pitchFamily="50" charset="-128"/>
              </a:rPr>
              <a:t>ex) Impel Down → ONE PIECE</a:t>
            </a:r>
            <a:endParaRPr sz="2200"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2200" dirty="0">
                <a:solidFill>
                  <a:schemeClr val="dk1"/>
                </a:solidFill>
                <a:latin typeface="メイリオ" panose="020B0604030504040204" pitchFamily="50" charset="-128"/>
                <a:ea typeface="メイリオ" panose="020B0604030504040204" pitchFamily="50" charset="-128"/>
              </a:rPr>
              <a:t>     　Unluck → Undead Unluck</a:t>
            </a:r>
            <a:endParaRPr sz="22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endParaRPr sz="22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r>
              <a:rPr lang="ja-JP" sz="2200" b="1" u="sng" dirty="0">
                <a:solidFill>
                  <a:schemeClr val="dk1"/>
                </a:solidFill>
                <a:latin typeface="メイリオ" panose="020B0604030504040204" pitchFamily="50" charset="-128"/>
                <a:ea typeface="メイリオ" panose="020B0604030504040204" pitchFamily="50" charset="-128"/>
              </a:rPr>
              <a:t>Accumulation of long-term reflections</a:t>
            </a:r>
            <a:endParaRPr sz="2200" b="1" u="sng"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r>
              <a:rPr lang="ja-JP" sz="2200" dirty="0">
                <a:solidFill>
                  <a:schemeClr val="dk1"/>
                </a:solidFill>
                <a:latin typeface="メイリオ" panose="020B0604030504040204" pitchFamily="50" charset="-128"/>
                <a:ea typeface="メイリオ" panose="020B0604030504040204" pitchFamily="50" charset="-128"/>
              </a:rPr>
              <a:t>Accumulate people's reflections, so that people in the future can see the impressions and reflections of people in the past</a:t>
            </a:r>
            <a:endParaRPr sz="22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Clr>
                <a:schemeClr val="dk1"/>
              </a:buClr>
              <a:buFont typeface="Arial"/>
              <a:buNone/>
            </a:pPr>
            <a:r>
              <a:rPr lang="ja-JP" sz="2200" dirty="0">
                <a:solidFill>
                  <a:schemeClr val="dk1"/>
                </a:solidFill>
                <a:latin typeface="メイリオ" panose="020B0604030504040204" pitchFamily="50" charset="-128"/>
                <a:ea typeface="メイリオ" panose="020B0604030504040204" pitchFamily="50" charset="-128"/>
              </a:rPr>
              <a:t>ex) Readers in 2030 will enjoy seeing the impressions of readers in 2024</a:t>
            </a:r>
            <a:endParaRPr sz="22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endParaRPr sz="22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endParaRPr sz="22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r>
              <a:rPr lang="ja-JP" sz="2200" b="1" u="sng" dirty="0">
                <a:solidFill>
                  <a:schemeClr val="dk1"/>
                </a:solidFill>
                <a:latin typeface="メイリオ" panose="020B0604030504040204" pitchFamily="50" charset="-128"/>
                <a:ea typeface="メイリオ" panose="020B0604030504040204" pitchFamily="50" charset="-128"/>
              </a:rPr>
              <a:t>Cooperate with publishers</a:t>
            </a:r>
            <a:endParaRPr sz="2200" b="1" u="sng"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None/>
            </a:pPr>
            <a:r>
              <a:rPr lang="ja-JP" sz="2200" dirty="0">
                <a:solidFill>
                  <a:schemeClr val="dk1"/>
                </a:solidFill>
                <a:latin typeface="メイリオ" panose="020B0604030504040204" pitchFamily="50" charset="-128"/>
                <a:ea typeface="メイリオ" panose="020B0604030504040204" pitchFamily="50" charset="-128"/>
              </a:rPr>
              <a:t>Publish the full comic book version of the discussion so that you can see that it is a "discussion of this section of this page".</a:t>
            </a:r>
            <a:endParaRPr sz="22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Clr>
                <a:schemeClr val="dk1"/>
              </a:buClr>
              <a:buFont typeface="Arial"/>
              <a:buNone/>
            </a:pPr>
            <a:r>
              <a:rPr lang="ja-JP" sz="2200" dirty="0">
                <a:solidFill>
                  <a:schemeClr val="dk1"/>
                </a:solidFill>
                <a:latin typeface="メイリオ" panose="020B0604030504040204" pitchFamily="50" charset="-128"/>
                <a:ea typeface="メイリオ" panose="020B0604030504040204" pitchFamily="50" charset="-128"/>
              </a:rPr>
              <a:t>Discussions about the same page will be lively.</a:t>
            </a:r>
            <a:endParaRPr sz="2200" dirty="0">
              <a:solidFill>
                <a:schemeClr val="dk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9"/>
        <p:cNvGrpSpPr/>
        <p:nvPr/>
      </p:nvGrpSpPr>
      <p:grpSpPr>
        <a:xfrm>
          <a:off x="0" y="0"/>
          <a:ext cx="0" cy="0"/>
          <a:chOff x="0" y="0"/>
          <a:chExt cx="0" cy="0"/>
        </a:xfrm>
      </p:grpSpPr>
      <p:sp>
        <p:nvSpPr>
          <p:cNvPr id="300" name="Google Shape;300;g2e99203a0a5_2_30"/>
          <p:cNvSpPr/>
          <p:nvPr/>
        </p:nvSpPr>
        <p:spPr>
          <a:xfrm>
            <a:off x="-9720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301" name="Google Shape;301;g2e99203a0a5_2_30"/>
          <p:cNvSpPr/>
          <p:nvPr/>
        </p:nvSpPr>
        <p:spPr>
          <a:xfrm flipH="1">
            <a:off x="-3" y="-1"/>
            <a:ext cx="12192000" cy="1590600"/>
          </a:xfrm>
          <a:prstGeom prst="rect">
            <a:avLst/>
          </a:prstGeom>
          <a:gradFill>
            <a:gsLst>
              <a:gs pos="0">
                <a:srgbClr val="DCECD5"/>
              </a:gs>
              <a:gs pos="100000">
                <a:srgbClr val="92BC81"/>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302" name="Google Shape;302;g2e99203a0a5_2_30"/>
          <p:cNvSpPr/>
          <p:nvPr/>
        </p:nvSpPr>
        <p:spPr>
          <a:xfrm rot="10800000" flipH="1">
            <a:off x="-3" y="142"/>
            <a:ext cx="8115300" cy="1590600"/>
          </a:xfrm>
          <a:prstGeom prst="rect">
            <a:avLst/>
          </a:prstGeom>
          <a:gradFill>
            <a:gsLst>
              <a:gs pos="0">
                <a:srgbClr val="156082">
                  <a:alpha val="0"/>
                </a:srgbClr>
              </a:gs>
              <a:gs pos="20000">
                <a:srgbClr val="156082">
                  <a:alpha val="0"/>
                </a:srgbClr>
              </a:gs>
              <a:gs pos="100000">
                <a:srgbClr val="0A3041">
                  <a:alpha val="54901"/>
                </a:srgbClr>
              </a:gs>
            </a:gsLst>
            <a:lin ang="1380014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303" name="Google Shape;303;g2e99203a0a5_2_30"/>
          <p:cNvSpPr txBox="1">
            <a:spLocks noGrp="1"/>
          </p:cNvSpPr>
          <p:nvPr>
            <p:ph type="title"/>
          </p:nvPr>
        </p:nvSpPr>
        <p:spPr>
          <a:xfrm>
            <a:off x="598714" y="459352"/>
            <a:ext cx="9896100" cy="1033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Arial"/>
              <a:buNone/>
            </a:pPr>
            <a:r>
              <a:rPr lang="ja-JP" sz="5400" dirty="0">
                <a:solidFill>
                  <a:srgbClr val="FFFFFF"/>
                </a:solidFill>
              </a:rPr>
              <a:t>Roadmap</a:t>
            </a:r>
            <a:endParaRPr sz="5400" dirty="0">
              <a:solidFill>
                <a:srgbClr val="FFFFFF"/>
              </a:solidFill>
            </a:endParaRPr>
          </a:p>
        </p:txBody>
      </p:sp>
      <p:cxnSp>
        <p:nvCxnSpPr>
          <p:cNvPr id="304" name="Google Shape;304;g2e99203a0a5_2_30"/>
          <p:cNvCxnSpPr/>
          <p:nvPr/>
        </p:nvCxnSpPr>
        <p:spPr>
          <a:xfrm>
            <a:off x="1408921" y="6209150"/>
            <a:ext cx="9368700" cy="0"/>
          </a:xfrm>
          <a:prstGeom prst="straightConnector1">
            <a:avLst/>
          </a:prstGeom>
          <a:noFill/>
          <a:ln w="19050" cap="flat" cmpd="sng">
            <a:solidFill>
              <a:schemeClr val="accent1"/>
            </a:solidFill>
            <a:prstDash val="solid"/>
            <a:miter lim="800000"/>
            <a:headEnd type="none" w="sm" len="sm"/>
            <a:tailEnd type="triangle" w="med" len="med"/>
          </a:ln>
        </p:spPr>
      </p:cxnSp>
      <p:sp>
        <p:nvSpPr>
          <p:cNvPr id="305" name="Google Shape;305;g2e99203a0a5_2_30"/>
          <p:cNvSpPr txBox="1"/>
          <p:nvPr/>
        </p:nvSpPr>
        <p:spPr>
          <a:xfrm>
            <a:off x="1761848" y="6337487"/>
            <a:ext cx="697500"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2022</a:t>
            </a:r>
            <a:endParaRPr sz="1800" dirty="0">
              <a:solidFill>
                <a:schemeClr val="dk1"/>
              </a:solidFill>
              <a:latin typeface="メイリオ" panose="020B0604030504040204" pitchFamily="50" charset="-128"/>
              <a:ea typeface="メイリオ" panose="020B0604030504040204" pitchFamily="50" charset="-128"/>
              <a:sym typeface="Arial"/>
            </a:endParaRPr>
          </a:p>
        </p:txBody>
      </p:sp>
      <p:sp>
        <p:nvSpPr>
          <p:cNvPr id="306" name="Google Shape;306;g2e99203a0a5_2_30"/>
          <p:cNvSpPr txBox="1"/>
          <p:nvPr/>
        </p:nvSpPr>
        <p:spPr>
          <a:xfrm>
            <a:off x="5149366" y="6337487"/>
            <a:ext cx="697500"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2030</a:t>
            </a:r>
            <a:endParaRPr sz="1800" dirty="0">
              <a:solidFill>
                <a:schemeClr val="dk1"/>
              </a:solidFill>
              <a:latin typeface="メイリオ" panose="020B0604030504040204" pitchFamily="50" charset="-128"/>
              <a:ea typeface="メイリオ" panose="020B0604030504040204" pitchFamily="50" charset="-128"/>
              <a:sym typeface="Arial"/>
            </a:endParaRPr>
          </a:p>
        </p:txBody>
      </p:sp>
      <p:sp>
        <p:nvSpPr>
          <p:cNvPr id="307" name="Google Shape;307;g2e99203a0a5_2_30"/>
          <p:cNvSpPr txBox="1"/>
          <p:nvPr/>
        </p:nvSpPr>
        <p:spPr>
          <a:xfrm>
            <a:off x="8820374" y="6337487"/>
            <a:ext cx="697500"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2050</a:t>
            </a:r>
            <a:endParaRPr sz="1800" dirty="0">
              <a:solidFill>
                <a:schemeClr val="dk1"/>
              </a:solidFill>
              <a:latin typeface="メイリオ" panose="020B0604030504040204" pitchFamily="50" charset="-128"/>
              <a:ea typeface="メイリオ" panose="020B0604030504040204" pitchFamily="50" charset="-128"/>
              <a:sym typeface="Arial"/>
            </a:endParaRPr>
          </a:p>
        </p:txBody>
      </p:sp>
      <p:sp>
        <p:nvSpPr>
          <p:cNvPr id="308" name="Google Shape;308;g2e99203a0a5_2_30"/>
          <p:cNvSpPr txBox="1"/>
          <p:nvPr/>
        </p:nvSpPr>
        <p:spPr>
          <a:xfrm>
            <a:off x="8588054" y="1873226"/>
            <a:ext cx="3262500" cy="1939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u="sng" dirty="0">
                <a:solidFill>
                  <a:schemeClr val="dk1"/>
                </a:solidFill>
                <a:latin typeface="メイリオ" panose="020B0604030504040204" pitchFamily="50" charset="-128"/>
                <a:ea typeface="メイリオ" panose="020B0604030504040204" pitchFamily="50" charset="-128"/>
              </a:rPr>
              <a:t>GOAL</a:t>
            </a:r>
            <a:endParaRPr sz="2400" u="sng"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Clr>
                <a:schemeClr val="dk1"/>
              </a:buClr>
              <a:buSzPts val="1100"/>
              <a:buFont typeface="Arial"/>
              <a:buNone/>
            </a:pPr>
            <a:r>
              <a:rPr lang="ja-JP" sz="2400" dirty="0">
                <a:solidFill>
                  <a:schemeClr val="dk1"/>
                </a:solidFill>
                <a:latin typeface="メイリオ" panose="020B0604030504040204" pitchFamily="50" charset="-128"/>
                <a:ea typeface="メイリオ" panose="020B0604030504040204" pitchFamily="50" charset="-128"/>
              </a:rPr>
              <a:t>Create a timeless, spoiler-free forum for discussion.</a:t>
            </a:r>
            <a:endParaRPr sz="2400"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2400" dirty="0">
              <a:solidFill>
                <a:schemeClr val="dk1"/>
              </a:solidFill>
              <a:latin typeface="メイリオ" panose="020B0604030504040204" pitchFamily="50" charset="-128"/>
              <a:ea typeface="メイリオ" panose="020B0604030504040204" pitchFamily="50" charset="-128"/>
            </a:endParaRPr>
          </a:p>
        </p:txBody>
      </p:sp>
      <p:sp>
        <p:nvSpPr>
          <p:cNvPr id="309" name="Google Shape;309;g2e99203a0a5_2_30"/>
          <p:cNvSpPr txBox="1"/>
          <p:nvPr/>
        </p:nvSpPr>
        <p:spPr>
          <a:xfrm>
            <a:off x="4035029" y="4132925"/>
            <a:ext cx="5428200" cy="230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u="sng" dirty="0">
                <a:solidFill>
                  <a:schemeClr val="dk1"/>
                </a:solidFill>
                <a:latin typeface="メイリオ" panose="020B0604030504040204" pitchFamily="50" charset="-128"/>
                <a:ea typeface="メイリオ" panose="020B0604030504040204" pitchFamily="50" charset="-128"/>
              </a:rPr>
              <a:t>milestone</a:t>
            </a:r>
            <a:endParaRPr sz="2400" u="sng" dirty="0">
              <a:solidFill>
                <a:schemeClr val="dk1"/>
              </a:solidFill>
              <a:latin typeface="メイリオ" panose="020B0604030504040204" pitchFamily="50" charset="-128"/>
              <a:ea typeface="メイリオ" panose="020B0604030504040204" pitchFamily="50" charset="-128"/>
              <a:sym typeface="Arial"/>
            </a:endParaRPr>
          </a:p>
          <a:p>
            <a:pPr marL="0" lvl="0" indent="0" algn="l" rtl="0">
              <a:spcBef>
                <a:spcPts val="0"/>
              </a:spcBef>
              <a:spcAft>
                <a:spcPts val="0"/>
              </a:spcAft>
              <a:buClr>
                <a:schemeClr val="dk1"/>
              </a:buClr>
              <a:buSzPts val="1100"/>
              <a:buFont typeface="Arial"/>
              <a:buNone/>
            </a:pPr>
            <a:r>
              <a:rPr lang="ja-JP" sz="2400" dirty="0">
                <a:solidFill>
                  <a:schemeClr val="dk1"/>
                </a:solidFill>
                <a:latin typeface="メイリオ" panose="020B0604030504040204" pitchFamily="50" charset="-128"/>
                <a:ea typeface="メイリオ" panose="020B0604030504040204" pitchFamily="50" charset="-128"/>
              </a:rPr>
              <a:t>Encourage the use of consideration stiffs and</a:t>
            </a:r>
            <a:endParaRPr sz="24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Clr>
                <a:schemeClr val="dk1"/>
              </a:buClr>
              <a:buSzPts val="1100"/>
              <a:buFont typeface="Arial"/>
              <a:buNone/>
            </a:pPr>
            <a:r>
              <a:rPr lang="ja-JP" sz="2400" dirty="0">
                <a:solidFill>
                  <a:schemeClr val="dk1"/>
                </a:solidFill>
                <a:latin typeface="メイリオ" panose="020B0604030504040204" pitchFamily="50" charset="-128"/>
                <a:ea typeface="メイリオ" panose="020B0604030504040204" pitchFamily="50" charset="-128"/>
              </a:rPr>
              <a:t>Make it available to people around the world</a:t>
            </a:r>
            <a:endParaRPr sz="2400"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2400" dirty="0">
              <a:solidFill>
                <a:schemeClr val="dk1"/>
              </a:solidFill>
              <a:latin typeface="メイリオ" panose="020B0604030504040204" pitchFamily="50" charset="-128"/>
              <a:ea typeface="メイリオ" panose="020B0604030504040204" pitchFamily="50" charset="-128"/>
            </a:endParaRPr>
          </a:p>
        </p:txBody>
      </p:sp>
      <p:sp>
        <p:nvSpPr>
          <p:cNvPr id="310" name="Google Shape;310;g2e99203a0a5_2_30"/>
          <p:cNvSpPr txBox="1"/>
          <p:nvPr/>
        </p:nvSpPr>
        <p:spPr>
          <a:xfrm>
            <a:off x="1168289" y="4813305"/>
            <a:ext cx="23391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u="sng" dirty="0">
                <a:solidFill>
                  <a:schemeClr val="dk1"/>
                </a:solidFill>
                <a:latin typeface="メイリオ" panose="020B0604030504040204" pitchFamily="50" charset="-128"/>
                <a:ea typeface="メイリオ" panose="020B0604030504040204" pitchFamily="50" charset="-128"/>
              </a:rPr>
              <a:t>now</a:t>
            </a:r>
            <a:endParaRPr sz="2400"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a:t>
            </a:r>
            <a:r>
              <a:rPr lang="ja-JP" sz="2400" b="1" dirty="0">
                <a:solidFill>
                  <a:srgbClr val="0D0D0D"/>
                </a:solidFill>
                <a:highlight>
                  <a:srgbClr val="FFFFFF"/>
                </a:highlight>
                <a:latin typeface="メイリオ" panose="020B0604030504040204" pitchFamily="50" charset="-128"/>
                <a:ea typeface="メイリオ" panose="020B0604030504040204" pitchFamily="50" charset="-128"/>
                <a:sym typeface="Arial"/>
              </a:rPr>
              <a:t> Insight </a:t>
            </a:r>
            <a:r>
              <a:rPr lang="ja-JP" sz="2400" dirty="0">
                <a:solidFill>
                  <a:schemeClr val="dk1"/>
                </a:solidFill>
                <a:latin typeface="メイリオ" panose="020B0604030504040204" pitchFamily="50" charset="-128"/>
                <a:ea typeface="メイリオ" panose="020B0604030504040204" pitchFamily="50" charset="-128"/>
                <a:sym typeface="Arial"/>
              </a:rPr>
              <a:t>」</a:t>
            </a:r>
            <a:endParaRPr sz="2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rPr>
              <a:t>　prototype</a:t>
            </a:r>
            <a:endParaRPr sz="2400" dirty="0">
              <a:solidFill>
                <a:schemeClr val="dk1"/>
              </a:solidFill>
              <a:latin typeface="メイリオ" panose="020B0604030504040204" pitchFamily="50" charset="-128"/>
              <a:ea typeface="メイリオ" panose="020B0604030504040204" pitchFamily="50" charset="-128"/>
              <a:sym typeface="Arial"/>
            </a:endParaRPr>
          </a:p>
        </p:txBody>
      </p:sp>
      <p:sp>
        <p:nvSpPr>
          <p:cNvPr id="311" name="Google Shape;311;g2e99203a0a5_2_30"/>
          <p:cNvSpPr txBox="1"/>
          <p:nvPr/>
        </p:nvSpPr>
        <p:spPr>
          <a:xfrm>
            <a:off x="2752828" y="2309250"/>
            <a:ext cx="4766400" cy="230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u="sng" dirty="0">
                <a:solidFill>
                  <a:schemeClr val="dk1"/>
                </a:solidFill>
                <a:latin typeface="メイリオ" panose="020B0604030504040204" pitchFamily="50" charset="-128"/>
                <a:ea typeface="メイリオ" panose="020B0604030504040204" pitchFamily="50" charset="-128"/>
              </a:rPr>
              <a:t>issue</a:t>
            </a:r>
            <a:endParaRPr sz="2400" u="sng" dirty="0">
              <a:solidFill>
                <a:schemeClr val="dk1"/>
              </a:solidFill>
              <a:latin typeface="メイリオ" panose="020B0604030504040204" pitchFamily="50" charset="-128"/>
              <a:ea typeface="メイリオ" panose="020B0604030504040204" pitchFamily="50" charset="-128"/>
              <a:sym typeface="Arial"/>
            </a:endParaRPr>
          </a:p>
          <a:p>
            <a:pPr marL="0" lvl="0" indent="0" algn="l" rtl="0">
              <a:spcBef>
                <a:spcPts val="0"/>
              </a:spcBef>
              <a:spcAft>
                <a:spcPts val="0"/>
              </a:spcAft>
              <a:buClr>
                <a:schemeClr val="dk1"/>
              </a:buClr>
              <a:buSzPts val="1100"/>
              <a:buFont typeface="Arial"/>
              <a:buNone/>
            </a:pPr>
            <a:r>
              <a:rPr lang="ja-JP" sz="2400" dirty="0">
                <a:solidFill>
                  <a:schemeClr val="dk1"/>
                </a:solidFill>
                <a:latin typeface="メイリオ" panose="020B0604030504040204" pitchFamily="50" charset="-128"/>
                <a:ea typeface="メイリオ" panose="020B0604030504040204" pitchFamily="50" charset="-128"/>
              </a:rPr>
              <a:t>To enliven the discussion</a:t>
            </a:r>
            <a:endParaRPr sz="2400" dirty="0">
              <a:solidFill>
                <a:schemeClr val="dk1"/>
              </a:solidFill>
              <a:latin typeface="メイリオ" panose="020B0604030504040204" pitchFamily="50" charset="-128"/>
              <a:ea typeface="メイリオ" panose="020B0604030504040204" pitchFamily="50" charset="-128"/>
            </a:endParaRPr>
          </a:p>
          <a:p>
            <a:pPr marL="0" lvl="0" indent="0" algn="l" rtl="0">
              <a:spcBef>
                <a:spcPts val="0"/>
              </a:spcBef>
              <a:spcAft>
                <a:spcPts val="0"/>
              </a:spcAft>
              <a:buClr>
                <a:schemeClr val="dk1"/>
              </a:buClr>
              <a:buSzPts val="1100"/>
              <a:buFont typeface="Arial"/>
              <a:buNone/>
            </a:pPr>
            <a:r>
              <a:rPr lang="ja-JP" sz="2400" dirty="0">
                <a:solidFill>
                  <a:schemeClr val="dk1"/>
                </a:solidFill>
                <a:latin typeface="メイリオ" panose="020B0604030504040204" pitchFamily="50" charset="-128"/>
                <a:ea typeface="メイリオ" panose="020B0604030504040204" pitchFamily="50" charset="-128"/>
              </a:rPr>
              <a:t>we need to get as many people as possible to use it.</a:t>
            </a:r>
            <a:endParaRPr sz="2400"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2400" dirty="0">
              <a:solidFill>
                <a:schemeClr val="dk1"/>
              </a:solidFill>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endParaRPr sz="2400" u="sng" dirty="0">
              <a:solidFill>
                <a:schemeClr val="dk1"/>
              </a:solidFill>
              <a:latin typeface="メイリオ" panose="020B0604030504040204" pitchFamily="50" charset="-128"/>
              <a:ea typeface="メイリオ" panose="020B0604030504040204" pitchFamily="50" charset="-128"/>
              <a:sym typeface="Arial"/>
            </a:endParaRPr>
          </a:p>
        </p:txBody>
      </p:sp>
      <p:sp>
        <p:nvSpPr>
          <p:cNvPr id="312" name="Google Shape;312;g2e99203a0a5_2_30"/>
          <p:cNvSpPr/>
          <p:nvPr/>
        </p:nvSpPr>
        <p:spPr>
          <a:xfrm rot="-7360674">
            <a:off x="2993900" y="4541569"/>
            <a:ext cx="1026827" cy="595176"/>
          </a:xfrm>
          <a:prstGeom prst="downArrow">
            <a:avLst>
              <a:gd name="adj1" fmla="val 50000"/>
              <a:gd name="adj2" fmla="val 50000"/>
            </a:avLst>
          </a:prstGeom>
          <a:solidFill>
            <a:srgbClr val="93C47D"/>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313" name="Google Shape;313;g2e99203a0a5_2_30"/>
          <p:cNvSpPr/>
          <p:nvPr/>
        </p:nvSpPr>
        <p:spPr>
          <a:xfrm rot="-7360674">
            <a:off x="7225491" y="3326475"/>
            <a:ext cx="1026827" cy="595176"/>
          </a:xfrm>
          <a:prstGeom prst="downArrow">
            <a:avLst>
              <a:gd name="adj1" fmla="val 50000"/>
              <a:gd name="adj2" fmla="val 50000"/>
            </a:avLst>
          </a:prstGeom>
          <a:solidFill>
            <a:srgbClr val="93C47D"/>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318"/>
        <p:cNvGrpSpPr/>
        <p:nvPr/>
      </p:nvGrpSpPr>
      <p:grpSpPr>
        <a:xfrm>
          <a:off x="0" y="0"/>
          <a:ext cx="0" cy="0"/>
          <a:chOff x="0" y="0"/>
          <a:chExt cx="0" cy="0"/>
        </a:xfrm>
      </p:grpSpPr>
      <p:pic>
        <p:nvPicPr>
          <p:cNvPr id="319" name="Google Shape;319;p16"/>
          <p:cNvPicPr preferRelativeResize="0"/>
          <p:nvPr/>
        </p:nvPicPr>
        <p:blipFill rotWithShape="1">
          <a:blip r:embed="rId3">
            <a:alphaModFix/>
          </a:blip>
          <a:srcRect/>
          <a:stretch/>
        </p:blipFill>
        <p:spPr>
          <a:xfrm>
            <a:off x="6216605" y="598714"/>
            <a:ext cx="4750690" cy="2471319"/>
          </a:xfrm>
          <a:prstGeom prst="rect">
            <a:avLst/>
          </a:prstGeom>
          <a:noFill/>
          <a:ln>
            <a:noFill/>
          </a:ln>
        </p:spPr>
      </p:pic>
      <p:pic>
        <p:nvPicPr>
          <p:cNvPr id="320" name="Google Shape;320;p16"/>
          <p:cNvPicPr preferRelativeResize="0"/>
          <p:nvPr/>
        </p:nvPicPr>
        <p:blipFill rotWithShape="1">
          <a:blip r:embed="rId4">
            <a:alphaModFix/>
          </a:blip>
          <a:srcRect/>
          <a:stretch/>
        </p:blipFill>
        <p:spPr>
          <a:xfrm>
            <a:off x="0" y="1360055"/>
            <a:ext cx="5740603" cy="5258500"/>
          </a:xfrm>
          <a:prstGeom prst="rect">
            <a:avLst/>
          </a:prstGeom>
          <a:noFill/>
          <a:ln>
            <a:noFill/>
          </a:ln>
        </p:spPr>
      </p:pic>
      <p:sp>
        <p:nvSpPr>
          <p:cNvPr id="321" name="Google Shape;321;p16"/>
          <p:cNvSpPr txBox="1"/>
          <p:nvPr/>
        </p:nvSpPr>
        <p:spPr>
          <a:xfrm>
            <a:off x="1" y="3235324"/>
            <a:ext cx="6096000" cy="362267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chemeClr val="dk1"/>
              </a:buClr>
              <a:buSzPts val="1050"/>
              <a:buFont typeface="Arial"/>
              <a:buNone/>
            </a:pPr>
            <a:endParaRPr sz="1050" dirty="0">
              <a:solidFill>
                <a:schemeClr val="dk1"/>
              </a:solidFill>
              <a:latin typeface="メイリオ" panose="020B0604030504040204" pitchFamily="50" charset="-128"/>
              <a:ea typeface="メイリオ" panose="020B0604030504040204" pitchFamily="50" charset="-128"/>
              <a:sym typeface="Arial"/>
            </a:endParaRPr>
          </a:p>
        </p:txBody>
      </p:sp>
      <p:sp>
        <p:nvSpPr>
          <p:cNvPr id="322" name="Google Shape;322;p16"/>
          <p:cNvSpPr txBox="1"/>
          <p:nvPr/>
        </p:nvSpPr>
        <p:spPr>
          <a:xfrm>
            <a:off x="3048001" y="122973"/>
            <a:ext cx="8387445"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3600" b="1" dirty="0">
                <a:solidFill>
                  <a:schemeClr val="dk1"/>
                </a:solidFill>
                <a:latin typeface="Aharoni"/>
                <a:ea typeface="Aharoni"/>
                <a:cs typeface="Aharoni"/>
                <a:sym typeface="Aharoni"/>
              </a:rPr>
              <a:t>考察特化</a:t>
            </a:r>
            <a:r>
              <a:rPr lang="ja-JP" sz="3600" b="1" dirty="0">
                <a:solidFill>
                  <a:schemeClr val="dk1"/>
                </a:solidFill>
                <a:latin typeface="メイリオ" panose="020B0604030504040204" pitchFamily="50" charset="-128"/>
                <a:ea typeface="メイリオ" panose="020B0604030504040204" pitchFamily="50" charset="-128"/>
                <a:sym typeface="Arial"/>
              </a:rPr>
              <a:t>SNS「</a:t>
            </a:r>
            <a:r>
              <a:rPr lang="ja-JP" sz="3600" b="1" dirty="0">
                <a:solidFill>
                  <a:srgbClr val="0D0D0D"/>
                </a:solidFill>
                <a:highlight>
                  <a:srgbClr val="FFFFFF"/>
                </a:highlight>
                <a:latin typeface="メイリオ" panose="020B0604030504040204" pitchFamily="50" charset="-128"/>
                <a:ea typeface="メイリオ" panose="020B0604030504040204" pitchFamily="50" charset="-128"/>
                <a:sym typeface="Arial"/>
              </a:rPr>
              <a:t>Insight</a:t>
            </a:r>
            <a:r>
              <a:rPr lang="ja-JP" sz="3600" b="1" dirty="0">
                <a:solidFill>
                  <a:schemeClr val="dk1"/>
                </a:solidFill>
                <a:latin typeface="メイリオ" panose="020B0604030504040204" pitchFamily="50" charset="-128"/>
                <a:ea typeface="メイリオ" panose="020B0604030504040204" pitchFamily="50" charset="-128"/>
                <a:sym typeface="Arial"/>
              </a:rPr>
              <a:t>」</a:t>
            </a:r>
            <a:endParaRPr sz="3600" b="1" dirty="0">
              <a:solidFill>
                <a:schemeClr val="dk1"/>
              </a:solidFill>
              <a:latin typeface="メイリオ" panose="020B0604030504040204" pitchFamily="50" charset="-128"/>
              <a:ea typeface="メイリオ" panose="020B0604030504040204" pitchFamily="50" charset="-128"/>
              <a:sym typeface="Arial"/>
            </a:endParaRPr>
          </a:p>
        </p:txBody>
      </p:sp>
      <p:sp>
        <p:nvSpPr>
          <p:cNvPr id="323" name="Google Shape;323;p16"/>
          <p:cNvSpPr txBox="1"/>
          <p:nvPr/>
        </p:nvSpPr>
        <p:spPr>
          <a:xfrm>
            <a:off x="198152" y="835835"/>
            <a:ext cx="18004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b="1" u="sng" dirty="0">
                <a:solidFill>
                  <a:schemeClr val="dk1"/>
                </a:solidFill>
                <a:latin typeface="メイリオ" panose="020B0604030504040204" pitchFamily="50" charset="-128"/>
                <a:ea typeface="メイリオ" panose="020B0604030504040204" pitchFamily="50" charset="-128"/>
                <a:sym typeface="Arial"/>
              </a:rPr>
              <a:t>アプリイメージ</a:t>
            </a:r>
            <a:endParaRPr dirty="0">
              <a:latin typeface="メイリオ" panose="020B0604030504040204" pitchFamily="50" charset="-128"/>
              <a:ea typeface="メイリオ" panose="020B0604030504040204" pitchFamily="50" charset="-128"/>
            </a:endParaRPr>
          </a:p>
        </p:txBody>
      </p:sp>
      <p:sp>
        <p:nvSpPr>
          <p:cNvPr id="324" name="Google Shape;324;p16"/>
          <p:cNvSpPr txBox="1"/>
          <p:nvPr/>
        </p:nvSpPr>
        <p:spPr>
          <a:xfrm>
            <a:off x="5529943" y="835835"/>
            <a:ext cx="156966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b="1" u="sng" dirty="0">
                <a:solidFill>
                  <a:schemeClr val="dk1"/>
                </a:solidFill>
                <a:latin typeface="メイリオ" panose="020B0604030504040204" pitchFamily="50" charset="-128"/>
                <a:ea typeface="メイリオ" panose="020B0604030504040204" pitchFamily="50" charset="-128"/>
                <a:sym typeface="Arial"/>
              </a:rPr>
              <a:t>ロードマップ</a:t>
            </a:r>
            <a:endParaRPr dirty="0">
              <a:latin typeface="メイリオ" panose="020B0604030504040204" pitchFamily="50" charset="-128"/>
              <a:ea typeface="メイリオ" panose="020B0604030504040204" pitchFamily="50" charset="-128"/>
            </a:endParaRPr>
          </a:p>
        </p:txBody>
      </p:sp>
      <p:sp>
        <p:nvSpPr>
          <p:cNvPr id="325" name="Google Shape;325;p16"/>
          <p:cNvSpPr txBox="1"/>
          <p:nvPr/>
        </p:nvSpPr>
        <p:spPr>
          <a:xfrm>
            <a:off x="5529943" y="2987183"/>
            <a:ext cx="203132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b="1" u="sng" dirty="0">
                <a:solidFill>
                  <a:schemeClr val="dk1"/>
                </a:solidFill>
                <a:latin typeface="メイリオ" panose="020B0604030504040204" pitchFamily="50" charset="-128"/>
                <a:ea typeface="メイリオ" panose="020B0604030504040204" pitchFamily="50" charset="-128"/>
                <a:sym typeface="Arial"/>
              </a:rPr>
              <a:t>リーンキャンパス</a:t>
            </a:r>
            <a:endParaRPr dirty="0">
              <a:latin typeface="メイリオ" panose="020B0604030504040204" pitchFamily="50" charset="-128"/>
              <a:ea typeface="メイリオ" panose="020B0604030504040204" pitchFamily="50" charset="-128"/>
            </a:endParaRPr>
          </a:p>
        </p:txBody>
      </p:sp>
      <p:pic>
        <p:nvPicPr>
          <p:cNvPr id="326" name="Google Shape;326;p16"/>
          <p:cNvPicPr preferRelativeResize="0"/>
          <p:nvPr/>
        </p:nvPicPr>
        <p:blipFill rotWithShape="1">
          <a:blip r:embed="rId5">
            <a:alphaModFix/>
          </a:blip>
          <a:srcRect/>
          <a:stretch/>
        </p:blipFill>
        <p:spPr>
          <a:xfrm>
            <a:off x="5556642" y="3294471"/>
            <a:ext cx="6635358" cy="346650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330"/>
        <p:cNvGrpSpPr/>
        <p:nvPr/>
      </p:nvGrpSpPr>
      <p:grpSpPr>
        <a:xfrm>
          <a:off x="0" y="0"/>
          <a:ext cx="0" cy="0"/>
          <a:chOff x="0" y="0"/>
          <a:chExt cx="0" cy="0"/>
        </a:xfrm>
      </p:grpSpPr>
      <p:cxnSp>
        <p:nvCxnSpPr>
          <p:cNvPr id="331" name="Google Shape;331;p17"/>
          <p:cNvCxnSpPr/>
          <p:nvPr/>
        </p:nvCxnSpPr>
        <p:spPr>
          <a:xfrm>
            <a:off x="1235242" y="5903495"/>
            <a:ext cx="9368589" cy="0"/>
          </a:xfrm>
          <a:prstGeom prst="straightConnector1">
            <a:avLst/>
          </a:prstGeom>
          <a:noFill/>
          <a:ln w="19050" cap="flat" cmpd="sng">
            <a:solidFill>
              <a:schemeClr val="accent1"/>
            </a:solidFill>
            <a:prstDash val="solid"/>
            <a:miter lim="800000"/>
            <a:headEnd type="none" w="sm" len="sm"/>
            <a:tailEnd type="triangle" w="med" len="med"/>
          </a:ln>
        </p:spPr>
      </p:cxnSp>
      <p:sp>
        <p:nvSpPr>
          <p:cNvPr id="332" name="Google Shape;332;p17"/>
          <p:cNvSpPr txBox="1"/>
          <p:nvPr/>
        </p:nvSpPr>
        <p:spPr>
          <a:xfrm>
            <a:off x="1588169" y="6031832"/>
            <a:ext cx="697627"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2022</a:t>
            </a:r>
            <a:endParaRPr sz="1800" dirty="0">
              <a:solidFill>
                <a:schemeClr val="dk1"/>
              </a:solidFill>
              <a:latin typeface="メイリオ" panose="020B0604030504040204" pitchFamily="50" charset="-128"/>
              <a:ea typeface="メイリオ" panose="020B0604030504040204" pitchFamily="50" charset="-128"/>
              <a:sym typeface="Arial"/>
            </a:endParaRPr>
          </a:p>
        </p:txBody>
      </p:sp>
      <p:sp>
        <p:nvSpPr>
          <p:cNvPr id="333" name="Google Shape;333;p17"/>
          <p:cNvSpPr txBox="1"/>
          <p:nvPr/>
        </p:nvSpPr>
        <p:spPr>
          <a:xfrm>
            <a:off x="4975687" y="6031832"/>
            <a:ext cx="697627"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2030</a:t>
            </a:r>
            <a:endParaRPr sz="1800" dirty="0">
              <a:solidFill>
                <a:schemeClr val="dk1"/>
              </a:solidFill>
              <a:latin typeface="メイリオ" panose="020B0604030504040204" pitchFamily="50" charset="-128"/>
              <a:ea typeface="メイリオ" panose="020B0604030504040204" pitchFamily="50" charset="-128"/>
              <a:sym typeface="Arial"/>
            </a:endParaRPr>
          </a:p>
        </p:txBody>
      </p:sp>
      <p:sp>
        <p:nvSpPr>
          <p:cNvPr id="334" name="Google Shape;334;p17"/>
          <p:cNvSpPr txBox="1"/>
          <p:nvPr/>
        </p:nvSpPr>
        <p:spPr>
          <a:xfrm>
            <a:off x="8646695" y="6031832"/>
            <a:ext cx="697627"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2050</a:t>
            </a:r>
            <a:endParaRPr sz="1800" dirty="0">
              <a:solidFill>
                <a:schemeClr val="dk1"/>
              </a:solidFill>
              <a:latin typeface="メイリオ" panose="020B0604030504040204" pitchFamily="50" charset="-128"/>
              <a:ea typeface="メイリオ" panose="020B0604030504040204" pitchFamily="50" charset="-128"/>
              <a:sym typeface="Arial"/>
            </a:endParaRPr>
          </a:p>
        </p:txBody>
      </p:sp>
      <p:sp>
        <p:nvSpPr>
          <p:cNvPr id="335" name="Google Shape;335;p17"/>
          <p:cNvSpPr txBox="1"/>
          <p:nvPr/>
        </p:nvSpPr>
        <p:spPr>
          <a:xfrm>
            <a:off x="8400974" y="966299"/>
            <a:ext cx="3262432"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u="sng" dirty="0">
                <a:solidFill>
                  <a:schemeClr val="dk1"/>
                </a:solidFill>
                <a:latin typeface="メイリオ" panose="020B0604030504040204" pitchFamily="50" charset="-128"/>
                <a:ea typeface="メイリオ" panose="020B0604030504040204" pitchFamily="50" charset="-128"/>
                <a:sym typeface="Arial"/>
              </a:rPr>
              <a:t>達成したい目標</a:t>
            </a:r>
            <a:endParaRPr sz="2400"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時代にとらわれずに</a:t>
            </a:r>
            <a:endParaRPr sz="2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ネタバレなしに</a:t>
            </a:r>
            <a:endParaRPr sz="2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考察を行える場を作る</a:t>
            </a:r>
            <a:endParaRPr sz="2400" dirty="0">
              <a:solidFill>
                <a:schemeClr val="dk1"/>
              </a:solidFill>
              <a:latin typeface="メイリオ" panose="020B0604030504040204" pitchFamily="50" charset="-128"/>
              <a:ea typeface="メイリオ" panose="020B0604030504040204" pitchFamily="50" charset="-128"/>
              <a:sym typeface="Arial"/>
            </a:endParaRPr>
          </a:p>
        </p:txBody>
      </p:sp>
      <p:sp>
        <p:nvSpPr>
          <p:cNvPr id="336" name="Google Shape;336;p17"/>
          <p:cNvSpPr txBox="1"/>
          <p:nvPr/>
        </p:nvSpPr>
        <p:spPr>
          <a:xfrm>
            <a:off x="3912445" y="3059548"/>
            <a:ext cx="4185761"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u="sng" dirty="0">
                <a:solidFill>
                  <a:schemeClr val="dk1"/>
                </a:solidFill>
                <a:latin typeface="メイリオ" panose="020B0604030504040204" pitchFamily="50" charset="-128"/>
                <a:ea typeface="メイリオ" panose="020B0604030504040204" pitchFamily="50" charset="-128"/>
                <a:sym typeface="Arial"/>
              </a:rPr>
              <a:t>マイルストーン</a:t>
            </a:r>
            <a:endParaRPr sz="2400"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考察ガチ勢の利用を促し</a:t>
            </a:r>
            <a:endParaRPr sz="2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日本中の人に利用してもらう</a:t>
            </a:r>
            <a:endParaRPr sz="2400" dirty="0">
              <a:solidFill>
                <a:schemeClr val="dk1"/>
              </a:solidFill>
              <a:latin typeface="メイリオ" panose="020B0604030504040204" pitchFamily="50" charset="-128"/>
              <a:ea typeface="メイリオ" panose="020B0604030504040204" pitchFamily="50" charset="-128"/>
              <a:sym typeface="Arial"/>
            </a:endParaRPr>
          </a:p>
        </p:txBody>
      </p:sp>
      <p:sp>
        <p:nvSpPr>
          <p:cNvPr id="337" name="Google Shape;337;p17"/>
          <p:cNvSpPr txBox="1"/>
          <p:nvPr/>
        </p:nvSpPr>
        <p:spPr>
          <a:xfrm>
            <a:off x="994610" y="4507650"/>
            <a:ext cx="2339102"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u="sng" dirty="0">
                <a:solidFill>
                  <a:schemeClr val="dk1"/>
                </a:solidFill>
                <a:latin typeface="メイリオ" panose="020B0604030504040204" pitchFamily="50" charset="-128"/>
                <a:ea typeface="メイリオ" panose="020B0604030504040204" pitchFamily="50" charset="-128"/>
                <a:sym typeface="Arial"/>
              </a:rPr>
              <a:t>現状</a:t>
            </a:r>
            <a:endParaRPr sz="2400"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a:t>
            </a:r>
            <a:r>
              <a:rPr lang="ja-JP" sz="2400" b="1" dirty="0">
                <a:solidFill>
                  <a:srgbClr val="0D0D0D"/>
                </a:solidFill>
                <a:highlight>
                  <a:srgbClr val="FFFFFF"/>
                </a:highlight>
                <a:latin typeface="メイリオ" panose="020B0604030504040204" pitchFamily="50" charset="-128"/>
                <a:ea typeface="メイリオ" panose="020B0604030504040204" pitchFamily="50" charset="-128"/>
                <a:sym typeface="Arial"/>
              </a:rPr>
              <a:t> Insight </a:t>
            </a:r>
            <a:r>
              <a:rPr lang="ja-JP" sz="2400" dirty="0">
                <a:solidFill>
                  <a:schemeClr val="dk1"/>
                </a:solidFill>
                <a:latin typeface="メイリオ" panose="020B0604030504040204" pitchFamily="50" charset="-128"/>
                <a:ea typeface="メイリオ" panose="020B0604030504040204" pitchFamily="50" charset="-128"/>
                <a:sym typeface="Arial"/>
              </a:rPr>
              <a:t>」</a:t>
            </a:r>
            <a:endParaRPr sz="2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のプロトタイプ</a:t>
            </a:r>
            <a:endParaRPr sz="2400" dirty="0">
              <a:solidFill>
                <a:schemeClr val="dk1"/>
              </a:solidFill>
              <a:latin typeface="メイリオ" panose="020B0604030504040204" pitchFamily="50" charset="-128"/>
              <a:ea typeface="メイリオ" panose="020B0604030504040204" pitchFamily="50" charset="-128"/>
              <a:sym typeface="Arial"/>
            </a:endParaRPr>
          </a:p>
        </p:txBody>
      </p:sp>
      <p:sp>
        <p:nvSpPr>
          <p:cNvPr id="338" name="Google Shape;338;p17"/>
          <p:cNvSpPr txBox="1"/>
          <p:nvPr/>
        </p:nvSpPr>
        <p:spPr>
          <a:xfrm>
            <a:off x="2999375" y="1348827"/>
            <a:ext cx="3570208"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u="sng" dirty="0">
                <a:solidFill>
                  <a:schemeClr val="dk1"/>
                </a:solidFill>
                <a:latin typeface="メイリオ" panose="020B0604030504040204" pitchFamily="50" charset="-128"/>
                <a:ea typeface="メイリオ" panose="020B0604030504040204" pitchFamily="50" charset="-128"/>
                <a:sym typeface="Arial"/>
              </a:rPr>
              <a:t>課題</a:t>
            </a:r>
            <a:endParaRPr sz="2400"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考察を盛り上げるために</a:t>
            </a:r>
            <a:endParaRPr sz="2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多くの人に利用して</a:t>
            </a:r>
            <a:endParaRPr sz="2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2400" dirty="0">
                <a:solidFill>
                  <a:schemeClr val="dk1"/>
                </a:solidFill>
                <a:latin typeface="メイリオ" panose="020B0604030504040204" pitchFamily="50" charset="-128"/>
                <a:ea typeface="メイリオ" panose="020B0604030504040204" pitchFamily="50" charset="-128"/>
                <a:sym typeface="Arial"/>
              </a:rPr>
              <a:t>もらわないといけない</a:t>
            </a:r>
            <a:endParaRPr sz="2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endParaRPr sz="2400" u="sng" dirty="0">
              <a:solidFill>
                <a:schemeClr val="dk1"/>
              </a:solidFill>
              <a:latin typeface="メイリオ" panose="020B0604030504040204" pitchFamily="50" charset="-128"/>
              <a:ea typeface="メイリオ" panose="020B0604030504040204" pitchFamily="50" charset="-128"/>
              <a:sym typeface="Arial"/>
            </a:endParaRPr>
          </a:p>
        </p:txBody>
      </p:sp>
      <p:sp>
        <p:nvSpPr>
          <p:cNvPr id="339" name="Google Shape;339;p17"/>
          <p:cNvSpPr/>
          <p:nvPr/>
        </p:nvSpPr>
        <p:spPr>
          <a:xfrm rot="-7360469">
            <a:off x="2820365" y="4235906"/>
            <a:ext cx="1026695" cy="595227"/>
          </a:xfrm>
          <a:prstGeom prst="downArrow">
            <a:avLst>
              <a:gd name="adj1" fmla="val 50000"/>
              <a:gd name="adj2" fmla="val 50000"/>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340" name="Google Shape;340;p17"/>
          <p:cNvSpPr/>
          <p:nvPr/>
        </p:nvSpPr>
        <p:spPr>
          <a:xfrm rot="-7360469">
            <a:off x="7359971" y="2422757"/>
            <a:ext cx="1026695" cy="595227"/>
          </a:xfrm>
          <a:prstGeom prst="downArrow">
            <a:avLst>
              <a:gd name="adj1" fmla="val 50000"/>
              <a:gd name="adj2" fmla="val 50000"/>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344"/>
        <p:cNvGrpSpPr/>
        <p:nvPr/>
      </p:nvGrpSpPr>
      <p:grpSpPr>
        <a:xfrm>
          <a:off x="0" y="0"/>
          <a:ext cx="0" cy="0"/>
          <a:chOff x="0" y="0"/>
          <a:chExt cx="0" cy="0"/>
        </a:xfrm>
      </p:grpSpPr>
      <p:pic>
        <p:nvPicPr>
          <p:cNvPr id="345" name="Google Shape;345;p18" descr="男性のプロフィール 枠線"/>
          <p:cNvPicPr preferRelativeResize="0"/>
          <p:nvPr/>
        </p:nvPicPr>
        <p:blipFill rotWithShape="1">
          <a:blip r:embed="rId3">
            <a:alphaModFix/>
          </a:blip>
          <a:srcRect/>
          <a:stretch/>
        </p:blipFill>
        <p:spPr>
          <a:xfrm>
            <a:off x="4117171" y="1892889"/>
            <a:ext cx="914400" cy="914400"/>
          </a:xfrm>
          <a:prstGeom prst="rect">
            <a:avLst/>
          </a:prstGeom>
          <a:noFill/>
          <a:ln>
            <a:noFill/>
          </a:ln>
        </p:spPr>
      </p:pic>
      <p:pic>
        <p:nvPicPr>
          <p:cNvPr id="346" name="Google Shape;346;p18" descr="男性のプロフィール 単色塗りつぶし"/>
          <p:cNvPicPr preferRelativeResize="0"/>
          <p:nvPr/>
        </p:nvPicPr>
        <p:blipFill rotWithShape="1">
          <a:blip r:embed="rId4">
            <a:alphaModFix/>
          </a:blip>
          <a:srcRect/>
          <a:stretch/>
        </p:blipFill>
        <p:spPr>
          <a:xfrm>
            <a:off x="5688519" y="1884493"/>
            <a:ext cx="914400" cy="914400"/>
          </a:xfrm>
          <a:prstGeom prst="rect">
            <a:avLst/>
          </a:prstGeom>
          <a:noFill/>
          <a:ln>
            <a:noFill/>
          </a:ln>
        </p:spPr>
      </p:pic>
      <p:sp>
        <p:nvSpPr>
          <p:cNvPr id="347" name="Google Shape;347;p18"/>
          <p:cNvSpPr txBox="1"/>
          <p:nvPr/>
        </p:nvSpPr>
        <p:spPr>
          <a:xfrm>
            <a:off x="5453737" y="2798893"/>
            <a:ext cx="180049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    週刊誌勢</a:t>
            </a:r>
            <a:endParaRPr sz="18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リアルタイム勢</a:t>
            </a:r>
            <a:endParaRPr sz="1800" dirty="0">
              <a:solidFill>
                <a:schemeClr val="dk1"/>
              </a:solidFill>
              <a:latin typeface="メイリオ" panose="020B0604030504040204" pitchFamily="50" charset="-128"/>
              <a:ea typeface="メイリオ" panose="020B0604030504040204" pitchFamily="50" charset="-128"/>
              <a:sym typeface="Arial"/>
            </a:endParaRPr>
          </a:p>
        </p:txBody>
      </p:sp>
      <p:sp>
        <p:nvSpPr>
          <p:cNvPr id="348" name="Google Shape;348;p18"/>
          <p:cNvSpPr txBox="1"/>
          <p:nvPr/>
        </p:nvSpPr>
        <p:spPr>
          <a:xfrm>
            <a:off x="3690611" y="2706599"/>
            <a:ext cx="1800493"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     単行本勢</a:t>
            </a:r>
            <a:endParaRPr sz="18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オンデマンド勢</a:t>
            </a:r>
            <a:endParaRPr sz="18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　   新規勢</a:t>
            </a:r>
            <a:endParaRPr sz="1800" dirty="0">
              <a:solidFill>
                <a:schemeClr val="dk1"/>
              </a:solidFill>
              <a:latin typeface="メイリオ" panose="020B0604030504040204" pitchFamily="50" charset="-128"/>
              <a:ea typeface="メイリオ" panose="020B0604030504040204" pitchFamily="50" charset="-128"/>
              <a:sym typeface="Arial"/>
            </a:endParaRPr>
          </a:p>
        </p:txBody>
      </p:sp>
      <p:sp>
        <p:nvSpPr>
          <p:cNvPr id="349" name="Google Shape;349;p18"/>
          <p:cNvSpPr/>
          <p:nvPr/>
        </p:nvSpPr>
        <p:spPr>
          <a:xfrm>
            <a:off x="5102043" y="509650"/>
            <a:ext cx="1987914" cy="1169634"/>
          </a:xfrm>
          <a:prstGeom prst="cloudCallout">
            <a:avLst>
              <a:gd name="adj1" fmla="val 3809"/>
              <a:gd name="adj2" fmla="val 70876"/>
            </a:avLst>
          </a:prstGeom>
          <a:no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350" name="Google Shape;350;p18"/>
          <p:cNvSpPr txBox="1"/>
          <p:nvPr/>
        </p:nvSpPr>
        <p:spPr>
          <a:xfrm>
            <a:off x="7173398" y="1266204"/>
            <a:ext cx="162095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600" dirty="0">
                <a:solidFill>
                  <a:schemeClr val="dk1"/>
                </a:solidFill>
                <a:latin typeface="メイリオ" panose="020B0604030504040204" pitchFamily="50" charset="-128"/>
                <a:ea typeface="メイリオ" panose="020B0604030504040204" pitchFamily="50" charset="-128"/>
                <a:sym typeface="Arial"/>
              </a:rPr>
              <a:t>ネタバレしたい</a:t>
            </a:r>
            <a:endParaRPr sz="16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600" dirty="0">
                <a:solidFill>
                  <a:schemeClr val="dk1"/>
                </a:solidFill>
                <a:latin typeface="メイリオ" panose="020B0604030504040204" pitchFamily="50" charset="-128"/>
                <a:ea typeface="メイリオ" panose="020B0604030504040204" pitchFamily="50" charset="-128"/>
                <a:sym typeface="Arial"/>
              </a:rPr>
              <a:t>わけじゃない</a:t>
            </a:r>
            <a:endParaRPr sz="1600" dirty="0">
              <a:solidFill>
                <a:schemeClr val="dk1"/>
              </a:solidFill>
              <a:latin typeface="メイリオ" panose="020B0604030504040204" pitchFamily="50" charset="-128"/>
              <a:ea typeface="メイリオ" panose="020B0604030504040204" pitchFamily="50" charset="-128"/>
              <a:sym typeface="Arial"/>
            </a:endParaRPr>
          </a:p>
        </p:txBody>
      </p:sp>
      <p:sp>
        <p:nvSpPr>
          <p:cNvPr id="351" name="Google Shape;351;p18"/>
          <p:cNvSpPr/>
          <p:nvPr/>
        </p:nvSpPr>
        <p:spPr>
          <a:xfrm flipH="1">
            <a:off x="2585270" y="827128"/>
            <a:ext cx="2284935" cy="1200329"/>
          </a:xfrm>
          <a:prstGeom prst="cloudCallout">
            <a:avLst>
              <a:gd name="adj1" fmla="val -25597"/>
              <a:gd name="adj2" fmla="val 76103"/>
            </a:avLst>
          </a:prstGeom>
          <a:no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352" name="Google Shape;352;p18"/>
          <p:cNvSpPr txBox="1"/>
          <p:nvPr/>
        </p:nvSpPr>
        <p:spPr>
          <a:xfrm flipH="1">
            <a:off x="2896947" y="988665"/>
            <a:ext cx="225327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600" dirty="0">
                <a:solidFill>
                  <a:schemeClr val="dk1"/>
                </a:solidFill>
                <a:latin typeface="メイリオ" panose="020B0604030504040204" pitchFamily="50" charset="-128"/>
                <a:ea typeface="メイリオ" panose="020B0604030504040204" pitchFamily="50" charset="-128"/>
                <a:sym typeface="Arial"/>
              </a:rPr>
              <a:t>考察をしたい</a:t>
            </a:r>
            <a:endParaRPr sz="16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600" dirty="0">
                <a:solidFill>
                  <a:schemeClr val="dk1"/>
                </a:solidFill>
                <a:latin typeface="メイリオ" panose="020B0604030504040204" pitchFamily="50" charset="-128"/>
                <a:ea typeface="メイリオ" panose="020B0604030504040204" pitchFamily="50" charset="-128"/>
                <a:sym typeface="Arial"/>
              </a:rPr>
              <a:t>当時の考察を見たい</a:t>
            </a:r>
            <a:endParaRPr sz="16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600" dirty="0">
                <a:solidFill>
                  <a:schemeClr val="dk1"/>
                </a:solidFill>
                <a:latin typeface="メイリオ" panose="020B0604030504040204" pitchFamily="50" charset="-128"/>
                <a:ea typeface="メイリオ" panose="020B0604030504040204" pitchFamily="50" charset="-128"/>
                <a:sym typeface="Arial"/>
              </a:rPr>
              <a:t>ネタバレは嫌</a:t>
            </a:r>
            <a:endParaRPr sz="1600" dirty="0">
              <a:solidFill>
                <a:schemeClr val="dk1"/>
              </a:solidFill>
              <a:latin typeface="メイリオ" panose="020B0604030504040204" pitchFamily="50" charset="-128"/>
              <a:ea typeface="メイリオ" panose="020B0604030504040204" pitchFamily="50" charset="-128"/>
              <a:sym typeface="Arial"/>
            </a:endParaRPr>
          </a:p>
        </p:txBody>
      </p:sp>
      <p:sp>
        <p:nvSpPr>
          <p:cNvPr id="353" name="Google Shape;353;p18"/>
          <p:cNvSpPr/>
          <p:nvPr/>
        </p:nvSpPr>
        <p:spPr>
          <a:xfrm>
            <a:off x="6911888" y="988665"/>
            <a:ext cx="1987914" cy="1169634"/>
          </a:xfrm>
          <a:prstGeom prst="cloudCallout">
            <a:avLst>
              <a:gd name="adj1" fmla="val -66831"/>
              <a:gd name="adj2" fmla="val 58777"/>
            </a:avLst>
          </a:prstGeom>
          <a:no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メイリオ" panose="020B0604030504040204" pitchFamily="50" charset="-128"/>
              <a:ea typeface="メイリオ" panose="020B0604030504040204" pitchFamily="50" charset="-128"/>
              <a:sym typeface="Arial"/>
            </a:endParaRPr>
          </a:p>
        </p:txBody>
      </p:sp>
      <p:sp>
        <p:nvSpPr>
          <p:cNvPr id="354" name="Google Shape;354;p18"/>
          <p:cNvSpPr txBox="1"/>
          <p:nvPr/>
        </p:nvSpPr>
        <p:spPr>
          <a:xfrm>
            <a:off x="5255668" y="842518"/>
            <a:ext cx="182614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600" dirty="0">
                <a:solidFill>
                  <a:schemeClr val="dk1"/>
                </a:solidFill>
                <a:latin typeface="メイリオ" panose="020B0604030504040204" pitchFamily="50" charset="-128"/>
                <a:ea typeface="メイリオ" panose="020B0604030504040204" pitchFamily="50" charset="-128"/>
                <a:sym typeface="Arial"/>
              </a:rPr>
              <a:t>考察を共有したい</a:t>
            </a:r>
            <a:endParaRPr sz="16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600" dirty="0">
                <a:solidFill>
                  <a:schemeClr val="dk1"/>
                </a:solidFill>
                <a:latin typeface="メイリオ" panose="020B0604030504040204" pitchFamily="50" charset="-128"/>
                <a:ea typeface="メイリオ" panose="020B0604030504040204" pitchFamily="50" charset="-128"/>
                <a:sym typeface="Arial"/>
              </a:rPr>
              <a:t>考察を見たい</a:t>
            </a:r>
            <a:endParaRPr sz="1600" dirty="0">
              <a:solidFill>
                <a:schemeClr val="dk1"/>
              </a:solidFill>
              <a:latin typeface="メイリオ" panose="020B0604030504040204" pitchFamily="50" charset="-128"/>
              <a:ea typeface="メイリオ" panose="020B0604030504040204" pitchFamily="50" charset="-128"/>
              <a:sym typeface="Arial"/>
            </a:endParaRPr>
          </a:p>
        </p:txBody>
      </p:sp>
      <p:pic>
        <p:nvPicPr>
          <p:cNvPr id="355" name="Google Shape;355;p18" descr="ダンス 単色塗りつぶし"/>
          <p:cNvPicPr preferRelativeResize="0"/>
          <p:nvPr/>
        </p:nvPicPr>
        <p:blipFill rotWithShape="1">
          <a:blip r:embed="rId5">
            <a:alphaModFix/>
          </a:blip>
          <a:srcRect/>
          <a:stretch/>
        </p:blipFill>
        <p:spPr>
          <a:xfrm>
            <a:off x="3003235" y="4355059"/>
            <a:ext cx="2098808" cy="2098808"/>
          </a:xfrm>
          <a:prstGeom prst="rect">
            <a:avLst/>
          </a:prstGeom>
          <a:noFill/>
          <a:ln>
            <a:noFill/>
          </a:ln>
        </p:spPr>
      </p:pic>
      <p:sp>
        <p:nvSpPr>
          <p:cNvPr id="356" name="Google Shape;356;p18"/>
          <p:cNvSpPr txBox="1"/>
          <p:nvPr/>
        </p:nvSpPr>
        <p:spPr>
          <a:xfrm>
            <a:off x="2774060" y="4130572"/>
            <a:ext cx="141577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600" dirty="0">
                <a:solidFill>
                  <a:schemeClr val="dk1"/>
                </a:solidFill>
                <a:latin typeface="メイリオ" panose="020B0604030504040204" pitchFamily="50" charset="-128"/>
                <a:ea typeface="メイリオ" panose="020B0604030504040204" pitchFamily="50" charset="-128"/>
                <a:sym typeface="Arial"/>
              </a:rPr>
              <a:t>トピック分類</a:t>
            </a:r>
            <a:endParaRPr sz="16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600" dirty="0">
                <a:solidFill>
                  <a:schemeClr val="dk1"/>
                </a:solidFill>
                <a:latin typeface="メイリオ" panose="020B0604030504040204" pitchFamily="50" charset="-128"/>
                <a:ea typeface="メイリオ" panose="020B0604030504040204" pitchFamily="50" charset="-128"/>
                <a:sym typeface="Arial"/>
              </a:rPr>
              <a:t>他作品の推薦</a:t>
            </a:r>
            <a:endParaRPr sz="1600" dirty="0">
              <a:solidFill>
                <a:schemeClr val="dk1"/>
              </a:solidFill>
              <a:latin typeface="メイリオ" panose="020B0604030504040204" pitchFamily="50" charset="-128"/>
              <a:ea typeface="メイリオ" panose="020B0604030504040204" pitchFamily="50" charset="-128"/>
              <a:sym typeface="Arial"/>
            </a:endParaRPr>
          </a:p>
        </p:txBody>
      </p:sp>
      <p:sp>
        <p:nvSpPr>
          <p:cNvPr id="357" name="Google Shape;357;p18"/>
          <p:cNvSpPr txBox="1"/>
          <p:nvPr/>
        </p:nvSpPr>
        <p:spPr>
          <a:xfrm>
            <a:off x="3362832" y="281352"/>
            <a:ext cx="198002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800" b="1" dirty="0">
                <a:solidFill>
                  <a:schemeClr val="dk1"/>
                </a:solidFill>
                <a:latin typeface="メイリオ" panose="020B0604030504040204" pitchFamily="50" charset="-128"/>
                <a:ea typeface="メイリオ" panose="020B0604030504040204" pitchFamily="50" charset="-128"/>
                <a:sym typeface="Arial"/>
              </a:rPr>
              <a:t>考察ブーム</a:t>
            </a:r>
            <a:endParaRPr sz="2800" b="1" dirty="0">
              <a:solidFill>
                <a:schemeClr val="dk1"/>
              </a:solidFill>
              <a:latin typeface="メイリオ" panose="020B0604030504040204" pitchFamily="50" charset="-128"/>
              <a:ea typeface="メイリオ" panose="020B0604030504040204" pitchFamily="50" charset="-128"/>
              <a:sym typeface="Arial"/>
            </a:endParaRPr>
          </a:p>
        </p:txBody>
      </p:sp>
      <p:graphicFrame>
        <p:nvGraphicFramePr>
          <p:cNvPr id="358" name="Google Shape;358;p18"/>
          <p:cNvGraphicFramePr/>
          <p:nvPr/>
        </p:nvGraphicFramePr>
        <p:xfrm>
          <a:off x="5031571" y="3721689"/>
          <a:ext cx="1688450" cy="1854250"/>
        </p:xfrm>
        <a:graphic>
          <a:graphicData uri="http://schemas.openxmlformats.org/drawingml/2006/table">
            <a:tbl>
              <a:tblPr bandRow="1">
                <a:noFill/>
                <a:tableStyleId>{855BA33D-3B61-4ABE-884B-8D3AB78356F0}</a:tableStyleId>
              </a:tblPr>
              <a:tblGrid>
                <a:gridCol w="1688450">
                  <a:extLst>
                    <a:ext uri="{9D8B030D-6E8A-4147-A177-3AD203B41FA5}">
                      <a16:colId xmlns:a16="http://schemas.microsoft.com/office/drawing/2014/main" val="20000"/>
                    </a:ext>
                  </a:extLst>
                </a:gridCol>
              </a:tblGrid>
              <a:tr h="370850">
                <a:tc>
                  <a:txBody>
                    <a:bodyPr/>
                    <a:lstStyle/>
                    <a:p>
                      <a:pPr marL="0" marR="0" lvl="0" indent="0" algn="l" rtl="0">
                        <a:spcBef>
                          <a:spcPts val="0"/>
                        </a:spcBef>
                        <a:spcAft>
                          <a:spcPts val="0"/>
                        </a:spcAft>
                        <a:buNone/>
                      </a:pPr>
                      <a:r>
                        <a:rPr lang="ja-JP" sz="1800"/>
                        <a:t>　・・・</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ja-JP" sz="1800"/>
                        <a:t>800話の考察　</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ja-JP" sz="1800"/>
                        <a:t>　・・・</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ja-JP" sz="1800"/>
                        <a:t>1000話の考察</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ja-JP" sz="1800"/>
                        <a:t>最新話の考察</a:t>
                      </a:r>
                      <a:endParaRPr/>
                    </a:p>
                  </a:txBody>
                  <a:tcPr marL="91450" marR="91450" marT="45725" marB="45725"/>
                </a:tc>
                <a:extLst>
                  <a:ext uri="{0D108BD9-81ED-4DB2-BD59-A6C34878D82A}">
                    <a16:rowId xmlns:a16="http://schemas.microsoft.com/office/drawing/2014/main" val="10004"/>
                  </a:ext>
                </a:extLst>
              </a:tr>
            </a:tbl>
          </a:graphicData>
        </a:graphic>
      </p:graphicFrame>
      <p:cxnSp>
        <p:nvCxnSpPr>
          <p:cNvPr id="359" name="Google Shape;359;p18"/>
          <p:cNvCxnSpPr>
            <a:stCxn id="348" idx="1"/>
          </p:cNvCxnSpPr>
          <p:nvPr/>
        </p:nvCxnSpPr>
        <p:spPr>
          <a:xfrm>
            <a:off x="3690611" y="3168264"/>
            <a:ext cx="1357500" cy="1018800"/>
          </a:xfrm>
          <a:prstGeom prst="curvedConnector3">
            <a:avLst>
              <a:gd name="adj1" fmla="val -16839"/>
            </a:avLst>
          </a:prstGeom>
          <a:noFill/>
          <a:ln w="19050" cap="flat" cmpd="sng">
            <a:solidFill>
              <a:schemeClr val="accent1"/>
            </a:solidFill>
            <a:prstDash val="solid"/>
            <a:miter lim="800000"/>
            <a:headEnd type="none" w="sm" len="sm"/>
            <a:tailEnd type="triangle" w="med" len="med"/>
          </a:ln>
        </p:spPr>
      </p:cxnSp>
      <p:cxnSp>
        <p:nvCxnSpPr>
          <p:cNvPr id="360" name="Google Shape;360;p18"/>
          <p:cNvCxnSpPr>
            <a:stCxn id="347" idx="3"/>
          </p:cNvCxnSpPr>
          <p:nvPr/>
        </p:nvCxnSpPr>
        <p:spPr>
          <a:xfrm flipH="1">
            <a:off x="6777230" y="3122059"/>
            <a:ext cx="477000" cy="2342400"/>
          </a:xfrm>
          <a:prstGeom prst="curvedConnector4">
            <a:avLst>
              <a:gd name="adj1" fmla="val -143773"/>
              <a:gd name="adj2" fmla="val 99654"/>
            </a:avLst>
          </a:prstGeom>
          <a:noFill/>
          <a:ln w="19050" cap="flat" cmpd="sng">
            <a:solidFill>
              <a:schemeClr val="accent1"/>
            </a:solidFill>
            <a:prstDash val="solid"/>
            <a:miter lim="800000"/>
            <a:headEnd type="none" w="sm" len="sm"/>
            <a:tailEnd type="triangle" w="med" len="med"/>
          </a:ln>
        </p:spPr>
      </p:cxnSp>
      <p:cxnSp>
        <p:nvCxnSpPr>
          <p:cNvPr id="361" name="Google Shape;361;p18"/>
          <p:cNvCxnSpPr>
            <a:stCxn id="347" idx="3"/>
          </p:cNvCxnSpPr>
          <p:nvPr/>
        </p:nvCxnSpPr>
        <p:spPr>
          <a:xfrm flipH="1">
            <a:off x="6677630" y="3122059"/>
            <a:ext cx="576600" cy="1141200"/>
          </a:xfrm>
          <a:prstGeom prst="curvedConnector4">
            <a:avLst>
              <a:gd name="adj1" fmla="val -39646"/>
              <a:gd name="adj2" fmla="val 100407"/>
            </a:avLst>
          </a:prstGeom>
          <a:noFill/>
          <a:ln w="12700" cap="flat" cmpd="sng">
            <a:solidFill>
              <a:schemeClr val="accent6"/>
            </a:solidFill>
            <a:prstDash val="solid"/>
            <a:miter lim="800000"/>
            <a:headEnd type="none" w="sm" len="sm"/>
            <a:tailEnd type="triangle" w="med" len="med"/>
          </a:ln>
        </p:spPr>
      </p:cxnSp>
      <p:cxnSp>
        <p:nvCxnSpPr>
          <p:cNvPr id="362" name="Google Shape;362;p18"/>
          <p:cNvCxnSpPr>
            <a:stCxn id="347" idx="3"/>
          </p:cNvCxnSpPr>
          <p:nvPr/>
        </p:nvCxnSpPr>
        <p:spPr>
          <a:xfrm flipH="1">
            <a:off x="6777230" y="3122059"/>
            <a:ext cx="477000" cy="1947000"/>
          </a:xfrm>
          <a:prstGeom prst="curvedConnector4">
            <a:avLst>
              <a:gd name="adj1" fmla="val -47924"/>
              <a:gd name="adj2" fmla="val 100229"/>
            </a:avLst>
          </a:prstGeom>
          <a:noFill/>
          <a:ln w="12700" cap="flat" cmpd="sng">
            <a:solidFill>
              <a:schemeClr val="accent6"/>
            </a:solidFill>
            <a:prstDash val="solid"/>
            <a:miter lim="800000"/>
            <a:headEnd type="none" w="sm" len="sm"/>
            <a:tailEnd type="triangle" w="med" len="med"/>
          </a:ln>
        </p:spPr>
      </p:cxnSp>
      <p:sp>
        <p:nvSpPr>
          <p:cNvPr id="363" name="Google Shape;363;p18"/>
          <p:cNvSpPr txBox="1"/>
          <p:nvPr/>
        </p:nvSpPr>
        <p:spPr>
          <a:xfrm>
            <a:off x="6715049" y="4355059"/>
            <a:ext cx="110799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rgbClr val="00B050"/>
                </a:solidFill>
                <a:latin typeface="メイリオ" panose="020B0604030504040204" pitchFamily="50" charset="-128"/>
                <a:ea typeface="メイリオ" panose="020B0604030504040204" pitchFamily="50" charset="-128"/>
                <a:sym typeface="Arial"/>
              </a:rPr>
              <a:t>閲覧のみ</a:t>
            </a:r>
            <a:endParaRPr dirty="0">
              <a:latin typeface="メイリオ" panose="020B0604030504040204" pitchFamily="50" charset="-128"/>
              <a:ea typeface="メイリオ" panose="020B0604030504040204" pitchFamily="50" charset="-128"/>
            </a:endParaRPr>
          </a:p>
        </p:txBody>
      </p:sp>
      <p:sp>
        <p:nvSpPr>
          <p:cNvPr id="364" name="Google Shape;364;p18"/>
          <p:cNvSpPr txBox="1"/>
          <p:nvPr/>
        </p:nvSpPr>
        <p:spPr>
          <a:xfrm>
            <a:off x="7190457" y="5099862"/>
            <a:ext cx="13388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rgbClr val="4892DC"/>
                </a:solidFill>
                <a:latin typeface="メイリオ" panose="020B0604030504040204" pitchFamily="50" charset="-128"/>
                <a:ea typeface="メイリオ" panose="020B0604030504040204" pitchFamily="50" charset="-128"/>
                <a:sym typeface="Arial"/>
              </a:rPr>
              <a:t>閲覧と投稿</a:t>
            </a:r>
            <a:endParaRPr dirty="0">
              <a:latin typeface="メイリオ" panose="020B0604030504040204" pitchFamily="50" charset="-128"/>
              <a:ea typeface="メイリオ" panose="020B0604030504040204" pitchFamily="50" charset="-128"/>
            </a:endParaRPr>
          </a:p>
        </p:txBody>
      </p:sp>
      <p:sp>
        <p:nvSpPr>
          <p:cNvPr id="365" name="Google Shape;365;p18"/>
          <p:cNvSpPr txBox="1"/>
          <p:nvPr/>
        </p:nvSpPr>
        <p:spPr>
          <a:xfrm>
            <a:off x="3598298" y="3740540"/>
            <a:ext cx="13388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rgbClr val="4892DC"/>
                </a:solidFill>
                <a:latin typeface="メイリオ" panose="020B0604030504040204" pitchFamily="50" charset="-128"/>
                <a:ea typeface="メイリオ" panose="020B0604030504040204" pitchFamily="50" charset="-128"/>
                <a:sym typeface="Arial"/>
              </a:rPr>
              <a:t>閲覧と投稿</a:t>
            </a:r>
            <a:endParaRPr dirty="0">
              <a:latin typeface="メイリオ" panose="020B0604030504040204" pitchFamily="50" charset="-128"/>
              <a:ea typeface="メイリオ" panose="020B0604030504040204" pitchFamily="50" charset="-128"/>
            </a:endParaRPr>
          </a:p>
        </p:txBody>
      </p:sp>
      <p:pic>
        <p:nvPicPr>
          <p:cNvPr id="366" name="Google Shape;366;p18" descr="人工知能 単色塗りつぶし"/>
          <p:cNvPicPr preferRelativeResize="0"/>
          <p:nvPr/>
        </p:nvPicPr>
        <p:blipFill rotWithShape="1">
          <a:blip r:embed="rId6">
            <a:alphaModFix/>
          </a:blip>
          <a:srcRect/>
          <a:stretch/>
        </p:blipFill>
        <p:spPr>
          <a:xfrm>
            <a:off x="2014587" y="3681547"/>
            <a:ext cx="914400" cy="914400"/>
          </a:xfrm>
          <a:prstGeom prst="rect">
            <a:avLst/>
          </a:prstGeom>
          <a:noFill/>
          <a:ln>
            <a:noFill/>
          </a:ln>
        </p:spPr>
      </p:pic>
      <p:cxnSp>
        <p:nvCxnSpPr>
          <p:cNvPr id="367" name="Google Shape;367;p18"/>
          <p:cNvCxnSpPr/>
          <p:nvPr/>
        </p:nvCxnSpPr>
        <p:spPr>
          <a:xfrm>
            <a:off x="2700044" y="4414220"/>
            <a:ext cx="1774200" cy="8700"/>
          </a:xfrm>
          <a:prstGeom prst="curvedConnector3">
            <a:avLst>
              <a:gd name="adj1" fmla="val 49998"/>
            </a:avLst>
          </a:prstGeom>
          <a:noFill/>
          <a:ln w="19050" cap="flat" cmpd="sng">
            <a:solidFill>
              <a:srgbClr val="FFC000"/>
            </a:solidFill>
            <a:prstDash val="solid"/>
            <a:miter lim="800000"/>
            <a:headEnd type="none" w="sm" len="sm"/>
            <a:tailEnd type="triangle" w="med" len="med"/>
          </a:ln>
        </p:spPr>
      </p:cxnSp>
      <p:sp>
        <p:nvSpPr>
          <p:cNvPr id="368" name="Google Shape;368;p18"/>
          <p:cNvSpPr txBox="1"/>
          <p:nvPr/>
        </p:nvSpPr>
        <p:spPr>
          <a:xfrm>
            <a:off x="2323018" y="3276826"/>
            <a:ext cx="377026"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600" dirty="0">
                <a:solidFill>
                  <a:schemeClr val="dk1"/>
                </a:solidFill>
                <a:latin typeface="メイリオ" panose="020B0604030504040204" pitchFamily="50" charset="-128"/>
                <a:ea typeface="メイリオ" panose="020B0604030504040204" pitchFamily="50" charset="-128"/>
                <a:sym typeface="Arial"/>
              </a:rPr>
              <a:t>AI</a:t>
            </a:r>
            <a:endParaRPr dirty="0">
              <a:latin typeface="メイリオ" panose="020B0604030504040204" pitchFamily="50" charset="-128"/>
              <a:ea typeface="メイリオ" panose="020B0604030504040204" pitchFamily="50" charset="-128"/>
            </a:endParaRPr>
          </a:p>
        </p:txBody>
      </p:sp>
      <p:sp>
        <p:nvSpPr>
          <p:cNvPr id="369" name="Google Shape;369;p18"/>
          <p:cNvSpPr txBox="1"/>
          <p:nvPr/>
        </p:nvSpPr>
        <p:spPr>
          <a:xfrm>
            <a:off x="4085595" y="6187272"/>
            <a:ext cx="223651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600" dirty="0">
                <a:solidFill>
                  <a:schemeClr val="dk1"/>
                </a:solidFill>
                <a:latin typeface="メイリオ" panose="020B0604030504040204" pitchFamily="50" charset="-128"/>
                <a:ea typeface="メイリオ" panose="020B0604030504040204" pitchFamily="50" charset="-128"/>
                <a:sym typeface="Arial"/>
              </a:rPr>
              <a:t>平等な考察の場を提供</a:t>
            </a:r>
            <a:endParaRPr sz="1600" dirty="0">
              <a:solidFill>
                <a:schemeClr val="dk1"/>
              </a:solidFill>
              <a:latin typeface="メイリオ" panose="020B0604030504040204" pitchFamily="50" charset="-128"/>
              <a:ea typeface="メイリオ" panose="020B0604030504040204" pitchFamily="50" charset="-128"/>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373"/>
        <p:cNvGrpSpPr/>
        <p:nvPr/>
      </p:nvGrpSpPr>
      <p:grpSpPr>
        <a:xfrm>
          <a:off x="0" y="0"/>
          <a:ext cx="0" cy="0"/>
          <a:chOff x="0" y="0"/>
          <a:chExt cx="0" cy="0"/>
        </a:xfrm>
      </p:grpSpPr>
      <p:graphicFrame>
        <p:nvGraphicFramePr>
          <p:cNvPr id="374" name="Google Shape;374;p19"/>
          <p:cNvGraphicFramePr/>
          <p:nvPr/>
        </p:nvGraphicFramePr>
        <p:xfrm>
          <a:off x="349250" y="666750"/>
          <a:ext cx="11493500" cy="5945175"/>
        </p:xfrm>
        <a:graphic>
          <a:graphicData uri="http://schemas.openxmlformats.org/drawingml/2006/table">
            <a:tbl>
              <a:tblPr firstRow="1" bandRow="1">
                <a:noFill/>
                <a:tableStyleId>{855BA33D-3B61-4ABE-884B-8D3AB78356F0}</a:tableStyleId>
              </a:tblPr>
              <a:tblGrid>
                <a:gridCol w="2298700">
                  <a:extLst>
                    <a:ext uri="{9D8B030D-6E8A-4147-A177-3AD203B41FA5}">
                      <a16:colId xmlns:a16="http://schemas.microsoft.com/office/drawing/2014/main" val="20000"/>
                    </a:ext>
                  </a:extLst>
                </a:gridCol>
                <a:gridCol w="2298700">
                  <a:extLst>
                    <a:ext uri="{9D8B030D-6E8A-4147-A177-3AD203B41FA5}">
                      <a16:colId xmlns:a16="http://schemas.microsoft.com/office/drawing/2014/main" val="20001"/>
                    </a:ext>
                  </a:extLst>
                </a:gridCol>
                <a:gridCol w="1149350">
                  <a:extLst>
                    <a:ext uri="{9D8B030D-6E8A-4147-A177-3AD203B41FA5}">
                      <a16:colId xmlns:a16="http://schemas.microsoft.com/office/drawing/2014/main" val="20002"/>
                    </a:ext>
                  </a:extLst>
                </a:gridCol>
                <a:gridCol w="1149350">
                  <a:extLst>
                    <a:ext uri="{9D8B030D-6E8A-4147-A177-3AD203B41FA5}">
                      <a16:colId xmlns:a16="http://schemas.microsoft.com/office/drawing/2014/main" val="20003"/>
                    </a:ext>
                  </a:extLst>
                </a:gridCol>
                <a:gridCol w="2298700">
                  <a:extLst>
                    <a:ext uri="{9D8B030D-6E8A-4147-A177-3AD203B41FA5}">
                      <a16:colId xmlns:a16="http://schemas.microsoft.com/office/drawing/2014/main" val="20004"/>
                    </a:ext>
                  </a:extLst>
                </a:gridCol>
                <a:gridCol w="2298700">
                  <a:extLst>
                    <a:ext uri="{9D8B030D-6E8A-4147-A177-3AD203B41FA5}">
                      <a16:colId xmlns:a16="http://schemas.microsoft.com/office/drawing/2014/main" val="20005"/>
                    </a:ext>
                  </a:extLst>
                </a:gridCol>
              </a:tblGrid>
              <a:tr h="2258800">
                <a:tc>
                  <a:txBody>
                    <a:bodyPr/>
                    <a:lstStyle/>
                    <a:p>
                      <a:pPr marL="0" marR="0" lvl="0" indent="0" algn="l" rtl="0">
                        <a:spcBef>
                          <a:spcPts val="0"/>
                        </a:spcBef>
                        <a:spcAft>
                          <a:spcPts val="0"/>
                        </a:spcAft>
                        <a:buNone/>
                      </a:pPr>
                      <a:endParaRPr sz="1800"/>
                    </a:p>
                  </a:txBody>
                  <a:tcPr marL="91450" marR="91450" marT="45725" marB="45725">
                    <a:lnB w="9525" cap="flat" cmpd="sng">
                      <a:solidFill>
                        <a:schemeClr val="dk1"/>
                      </a:solidFill>
                      <a:prstDash val="dot"/>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tc>
                <a:tc gridSpan="2">
                  <a:txBody>
                    <a:bodyPr/>
                    <a:lstStyle/>
                    <a:p>
                      <a:pPr marL="0" marR="0" lvl="0" indent="0" algn="l" rtl="0">
                        <a:spcBef>
                          <a:spcPts val="0"/>
                        </a:spcBef>
                        <a:spcAft>
                          <a:spcPts val="0"/>
                        </a:spcAft>
                        <a:buNone/>
                      </a:pPr>
                      <a:endParaRPr sz="1800"/>
                    </a:p>
                  </a:txBody>
                  <a:tcPr marL="91450" marR="91450" marT="45725" marB="45725">
                    <a:lnB w="9525" cap="flat" cmpd="sng">
                      <a:solidFill>
                        <a:schemeClr val="dk1"/>
                      </a:solidFill>
                      <a:prstDash val="dot"/>
                      <a:round/>
                      <a:headEnd type="none" w="sm" len="sm"/>
                      <a:tailEnd type="none" w="sm" len="sm"/>
                    </a:lnB>
                  </a:tcPr>
                </a:tc>
                <a:tc hMerge="1">
                  <a:txBody>
                    <a:bodyPr/>
                    <a:lstStyle/>
                    <a:p>
                      <a:endParaRPr lang="ja-JP"/>
                    </a:p>
                  </a:txBody>
                  <a:tcPr/>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lnB w="9525" cap="flat" cmpd="sng">
                      <a:solidFill>
                        <a:schemeClr val="dk1"/>
                      </a:solidFill>
                      <a:prstDash val="dot"/>
                      <a:round/>
                      <a:headEnd type="none" w="sm" len="sm"/>
                      <a:tailEnd type="none" w="sm" len="sm"/>
                    </a:lnB>
                  </a:tcPr>
                </a:tc>
                <a:extLst>
                  <a:ext uri="{0D108BD9-81ED-4DB2-BD59-A6C34878D82A}">
                    <a16:rowId xmlns:a16="http://schemas.microsoft.com/office/drawing/2014/main" val="10000"/>
                  </a:ext>
                </a:extLst>
              </a:tr>
              <a:tr h="2167750">
                <a:tc>
                  <a:txBody>
                    <a:bodyPr/>
                    <a:lstStyle/>
                    <a:p>
                      <a:pPr marL="0" marR="0" lvl="0" indent="0" algn="l" rtl="0">
                        <a:spcBef>
                          <a:spcPts val="0"/>
                        </a:spcBef>
                        <a:spcAft>
                          <a:spcPts val="0"/>
                        </a:spcAft>
                        <a:buNone/>
                      </a:pPr>
                      <a:endParaRPr sz="1800"/>
                    </a:p>
                  </a:txBody>
                  <a:tcPr marL="91450" marR="91450" marT="45725" marB="45725">
                    <a:lnT w="9525" cap="flat" cmpd="sng">
                      <a:solidFill>
                        <a:schemeClr val="dk1"/>
                      </a:solidFill>
                      <a:prstDash val="dot"/>
                      <a:round/>
                      <a:headEnd type="none" w="sm" len="sm"/>
                      <a:tailEnd type="none" w="sm" len="sm"/>
                    </a:lnT>
                  </a:tcPr>
                </a:tc>
                <a:tc>
                  <a:txBody>
                    <a:bodyPr/>
                    <a:lstStyle/>
                    <a:p>
                      <a:pPr marL="0" marR="0" lvl="0" indent="0" algn="l" rtl="0">
                        <a:spcBef>
                          <a:spcPts val="0"/>
                        </a:spcBef>
                        <a:spcAft>
                          <a:spcPts val="0"/>
                        </a:spcAft>
                        <a:buNone/>
                      </a:pPr>
                      <a:endParaRPr sz="1800"/>
                    </a:p>
                  </a:txBody>
                  <a:tcPr marL="91450" marR="91450" marT="45725" marB="45725"/>
                </a:tc>
                <a:tc gridSpan="2">
                  <a:txBody>
                    <a:bodyPr/>
                    <a:lstStyle/>
                    <a:p>
                      <a:pPr marL="0" marR="0" lvl="0" indent="0" algn="l" rtl="0">
                        <a:spcBef>
                          <a:spcPts val="0"/>
                        </a:spcBef>
                        <a:spcAft>
                          <a:spcPts val="0"/>
                        </a:spcAft>
                        <a:buNone/>
                      </a:pPr>
                      <a:endParaRPr sz="1800"/>
                    </a:p>
                  </a:txBody>
                  <a:tcPr marL="91450" marR="91450" marT="45725" marB="45725">
                    <a:lnT w="9525" cap="flat" cmpd="sng">
                      <a:solidFill>
                        <a:schemeClr val="dk1"/>
                      </a:solidFill>
                      <a:prstDash val="dot"/>
                      <a:round/>
                      <a:headEnd type="none" w="sm" len="sm"/>
                      <a:tailEnd type="none" w="sm" len="sm"/>
                    </a:lnT>
                  </a:tcPr>
                </a:tc>
                <a:tc hMerge="1">
                  <a:txBody>
                    <a:bodyPr/>
                    <a:lstStyle/>
                    <a:p>
                      <a:endParaRPr lang="ja-JP"/>
                    </a:p>
                  </a:txBody>
                  <a:tcPr/>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lnT w="9525" cap="flat" cmpd="sng">
                      <a:solidFill>
                        <a:schemeClr val="dk1"/>
                      </a:solidFill>
                      <a:prstDash val="dot"/>
                      <a:round/>
                      <a:headEnd type="none" w="sm" len="sm"/>
                      <a:tailEnd type="none" w="sm" len="sm"/>
                    </a:lnT>
                  </a:tcPr>
                </a:tc>
                <a:extLst>
                  <a:ext uri="{0D108BD9-81ED-4DB2-BD59-A6C34878D82A}">
                    <a16:rowId xmlns:a16="http://schemas.microsoft.com/office/drawing/2014/main" val="10001"/>
                  </a:ext>
                </a:extLst>
              </a:tr>
              <a:tr h="1518625">
                <a:tc gridSpan="3">
                  <a:txBody>
                    <a:bodyPr/>
                    <a:lstStyle/>
                    <a:p>
                      <a:pPr marL="0" marR="0" lvl="0" indent="0" algn="l" rtl="0">
                        <a:spcBef>
                          <a:spcPts val="0"/>
                        </a:spcBef>
                        <a:spcAft>
                          <a:spcPts val="0"/>
                        </a:spcAft>
                        <a:buNone/>
                      </a:pPr>
                      <a:endParaRPr sz="1800"/>
                    </a:p>
                  </a:txBody>
                  <a:tcPr marL="91450" marR="91450" marT="45725" marB="45725"/>
                </a:tc>
                <a:tc hMerge="1">
                  <a:txBody>
                    <a:bodyPr/>
                    <a:lstStyle/>
                    <a:p>
                      <a:endParaRPr lang="ja-JP"/>
                    </a:p>
                  </a:txBody>
                  <a:tcPr/>
                </a:tc>
                <a:tc hMerge="1">
                  <a:txBody>
                    <a:bodyPr/>
                    <a:lstStyle/>
                    <a:p>
                      <a:endParaRPr lang="ja-JP"/>
                    </a:p>
                  </a:txBody>
                  <a:tcPr/>
                </a:tc>
                <a:tc gridSpan="3">
                  <a:txBody>
                    <a:bodyPr/>
                    <a:lstStyle/>
                    <a:p>
                      <a:pPr marL="0" marR="0" lvl="0" indent="0" algn="l" rtl="0">
                        <a:spcBef>
                          <a:spcPts val="0"/>
                        </a:spcBef>
                        <a:spcAft>
                          <a:spcPts val="0"/>
                        </a:spcAft>
                        <a:buNone/>
                      </a:pPr>
                      <a:endParaRPr sz="1800"/>
                    </a:p>
                  </a:txBody>
                  <a:tcPr marL="91450" marR="91450" marT="45725" marB="45725"/>
                </a:tc>
                <a:tc hMerge="1">
                  <a:txBody>
                    <a:bodyPr/>
                    <a:lstStyle/>
                    <a:p>
                      <a:endParaRPr lang="ja-JP"/>
                    </a:p>
                  </a:txBody>
                  <a:tcPr/>
                </a:tc>
                <a:tc hMerge="1">
                  <a:txBody>
                    <a:bodyPr/>
                    <a:lstStyle/>
                    <a:p>
                      <a:endParaRPr lang="ja-JP"/>
                    </a:p>
                  </a:txBody>
                  <a:tcPr/>
                </a:tc>
                <a:extLst>
                  <a:ext uri="{0D108BD9-81ED-4DB2-BD59-A6C34878D82A}">
                    <a16:rowId xmlns:a16="http://schemas.microsoft.com/office/drawing/2014/main" val="10002"/>
                  </a:ext>
                </a:extLst>
              </a:tr>
            </a:tbl>
          </a:graphicData>
        </a:graphic>
      </p:graphicFrame>
      <p:sp>
        <p:nvSpPr>
          <p:cNvPr id="375" name="Google Shape;375;p19"/>
          <p:cNvSpPr txBox="1"/>
          <p:nvPr/>
        </p:nvSpPr>
        <p:spPr>
          <a:xfrm>
            <a:off x="4984750" y="182563"/>
            <a:ext cx="2206625" cy="368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800" b="1" dirty="0">
                <a:solidFill>
                  <a:schemeClr val="dk1"/>
                </a:solidFill>
                <a:latin typeface="メイリオ" panose="020B0604030504040204" pitchFamily="50" charset="-128"/>
                <a:ea typeface="メイリオ" panose="020B0604030504040204" pitchFamily="50" charset="-128"/>
                <a:sym typeface="Arial"/>
              </a:rPr>
              <a:t>リーンキャンバス</a:t>
            </a:r>
            <a:endParaRPr dirty="0">
              <a:latin typeface="メイリオ" panose="020B0604030504040204" pitchFamily="50" charset="-128"/>
              <a:ea typeface="メイリオ" panose="020B0604030504040204" pitchFamily="50" charset="-128"/>
            </a:endParaRPr>
          </a:p>
        </p:txBody>
      </p:sp>
      <p:sp>
        <p:nvSpPr>
          <p:cNvPr id="376" name="Google Shape;376;p19"/>
          <p:cNvSpPr txBox="1"/>
          <p:nvPr/>
        </p:nvSpPr>
        <p:spPr>
          <a:xfrm>
            <a:off x="427138" y="754063"/>
            <a:ext cx="194468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b="1" dirty="0">
                <a:solidFill>
                  <a:schemeClr val="dk1"/>
                </a:solidFill>
                <a:latin typeface="メイリオ" panose="020B0604030504040204" pitchFamily="50" charset="-128"/>
                <a:ea typeface="メイリオ" panose="020B0604030504040204" pitchFamily="50" charset="-128"/>
                <a:sym typeface="Arial"/>
              </a:rPr>
              <a:t>課題(重要な上位３つ)</a:t>
            </a:r>
            <a:endParaRPr sz="1400" b="1" dirty="0">
              <a:solidFill>
                <a:schemeClr val="dk1"/>
              </a:solidFill>
              <a:latin typeface="メイリオ" panose="020B0604030504040204" pitchFamily="50" charset="-128"/>
              <a:ea typeface="メイリオ" panose="020B0604030504040204" pitchFamily="50" charset="-128"/>
              <a:sym typeface="Arial"/>
            </a:endParaRPr>
          </a:p>
        </p:txBody>
      </p:sp>
      <p:sp>
        <p:nvSpPr>
          <p:cNvPr id="377" name="Google Shape;377;p19"/>
          <p:cNvSpPr txBox="1"/>
          <p:nvPr/>
        </p:nvSpPr>
        <p:spPr>
          <a:xfrm>
            <a:off x="2701925" y="711200"/>
            <a:ext cx="723900"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b="1" dirty="0">
                <a:solidFill>
                  <a:schemeClr val="dk1"/>
                </a:solidFill>
                <a:latin typeface="メイリオ" panose="020B0604030504040204" pitchFamily="50" charset="-128"/>
                <a:ea typeface="メイリオ" panose="020B0604030504040204" pitchFamily="50" charset="-128"/>
                <a:sym typeface="Arial"/>
              </a:rPr>
              <a:t>解決策</a:t>
            </a:r>
            <a:endParaRPr dirty="0">
              <a:latin typeface="メイリオ" panose="020B0604030504040204" pitchFamily="50" charset="-128"/>
              <a:ea typeface="メイリオ" panose="020B0604030504040204" pitchFamily="50" charset="-128"/>
            </a:endParaRPr>
          </a:p>
        </p:txBody>
      </p:sp>
      <p:sp>
        <p:nvSpPr>
          <p:cNvPr id="378" name="Google Shape;378;p19"/>
          <p:cNvSpPr txBox="1"/>
          <p:nvPr/>
        </p:nvSpPr>
        <p:spPr>
          <a:xfrm>
            <a:off x="4984750" y="711200"/>
            <a:ext cx="1441450"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b="1" dirty="0">
                <a:solidFill>
                  <a:schemeClr val="dk1"/>
                </a:solidFill>
                <a:latin typeface="メイリオ" panose="020B0604030504040204" pitchFamily="50" charset="-128"/>
                <a:ea typeface="メイリオ" panose="020B0604030504040204" pitchFamily="50" charset="-128"/>
                <a:sym typeface="Arial"/>
              </a:rPr>
              <a:t>独自の価値提案</a:t>
            </a:r>
            <a:endParaRPr dirty="0">
              <a:latin typeface="メイリオ" panose="020B0604030504040204" pitchFamily="50" charset="-128"/>
              <a:ea typeface="メイリオ" panose="020B0604030504040204" pitchFamily="50" charset="-128"/>
            </a:endParaRPr>
          </a:p>
        </p:txBody>
      </p:sp>
      <p:sp>
        <p:nvSpPr>
          <p:cNvPr id="379" name="Google Shape;379;p19"/>
          <p:cNvSpPr txBox="1"/>
          <p:nvPr/>
        </p:nvSpPr>
        <p:spPr>
          <a:xfrm>
            <a:off x="7237413" y="735013"/>
            <a:ext cx="2339975"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b="1" dirty="0">
                <a:solidFill>
                  <a:schemeClr val="dk1"/>
                </a:solidFill>
                <a:latin typeface="メイリオ" panose="020B0604030504040204" pitchFamily="50" charset="-128"/>
                <a:ea typeface="メイリオ" panose="020B0604030504040204" pitchFamily="50" charset="-128"/>
                <a:sym typeface="Arial"/>
              </a:rPr>
              <a:t>競合が真似できない優位性</a:t>
            </a:r>
            <a:endParaRPr dirty="0">
              <a:latin typeface="メイリオ" panose="020B0604030504040204" pitchFamily="50" charset="-128"/>
              <a:ea typeface="メイリオ" panose="020B0604030504040204" pitchFamily="50" charset="-128"/>
            </a:endParaRPr>
          </a:p>
        </p:txBody>
      </p:sp>
      <p:sp>
        <p:nvSpPr>
          <p:cNvPr id="380" name="Google Shape;380;p19"/>
          <p:cNvSpPr txBox="1"/>
          <p:nvPr/>
        </p:nvSpPr>
        <p:spPr>
          <a:xfrm>
            <a:off x="9561513" y="711200"/>
            <a:ext cx="1441450"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b="1" dirty="0">
                <a:solidFill>
                  <a:schemeClr val="dk1"/>
                </a:solidFill>
                <a:latin typeface="メイリオ" panose="020B0604030504040204" pitchFamily="50" charset="-128"/>
                <a:ea typeface="メイリオ" panose="020B0604030504040204" pitchFamily="50" charset="-128"/>
                <a:sym typeface="Arial"/>
              </a:rPr>
              <a:t>顧客セグメント</a:t>
            </a:r>
            <a:endParaRPr dirty="0">
              <a:latin typeface="メイリオ" panose="020B0604030504040204" pitchFamily="50" charset="-128"/>
              <a:ea typeface="メイリオ" panose="020B0604030504040204" pitchFamily="50" charset="-128"/>
            </a:endParaRPr>
          </a:p>
        </p:txBody>
      </p:sp>
      <p:sp>
        <p:nvSpPr>
          <p:cNvPr id="381" name="Google Shape;381;p19"/>
          <p:cNvSpPr txBox="1"/>
          <p:nvPr/>
        </p:nvSpPr>
        <p:spPr>
          <a:xfrm>
            <a:off x="2654300" y="2955925"/>
            <a:ext cx="915988"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b="1" dirty="0">
                <a:solidFill>
                  <a:schemeClr val="dk1"/>
                </a:solidFill>
                <a:latin typeface="メイリオ" panose="020B0604030504040204" pitchFamily="50" charset="-128"/>
                <a:ea typeface="メイリオ" panose="020B0604030504040204" pitchFamily="50" charset="-128"/>
                <a:sym typeface="Arial"/>
              </a:rPr>
              <a:t>主要指標</a:t>
            </a:r>
            <a:endParaRPr dirty="0">
              <a:latin typeface="メイリオ" panose="020B0604030504040204" pitchFamily="50" charset="-128"/>
              <a:ea typeface="メイリオ" panose="020B0604030504040204" pitchFamily="50" charset="-128"/>
            </a:endParaRPr>
          </a:p>
        </p:txBody>
      </p:sp>
      <p:sp>
        <p:nvSpPr>
          <p:cNvPr id="382" name="Google Shape;382;p19"/>
          <p:cNvSpPr txBox="1"/>
          <p:nvPr/>
        </p:nvSpPr>
        <p:spPr>
          <a:xfrm>
            <a:off x="7237413" y="2959100"/>
            <a:ext cx="903287"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b="1" dirty="0">
                <a:solidFill>
                  <a:schemeClr val="dk1"/>
                </a:solidFill>
                <a:latin typeface="メイリオ" panose="020B0604030504040204" pitchFamily="50" charset="-128"/>
                <a:ea typeface="メイリオ" panose="020B0604030504040204" pitchFamily="50" charset="-128"/>
                <a:sym typeface="Arial"/>
              </a:rPr>
              <a:t>チャネル</a:t>
            </a:r>
            <a:endParaRPr dirty="0">
              <a:latin typeface="メイリオ" panose="020B0604030504040204" pitchFamily="50" charset="-128"/>
              <a:ea typeface="メイリオ" panose="020B0604030504040204" pitchFamily="50" charset="-128"/>
            </a:endParaRPr>
          </a:p>
        </p:txBody>
      </p:sp>
      <p:sp>
        <p:nvSpPr>
          <p:cNvPr id="383" name="Google Shape;383;p19"/>
          <p:cNvSpPr txBox="1"/>
          <p:nvPr/>
        </p:nvSpPr>
        <p:spPr>
          <a:xfrm>
            <a:off x="417513" y="5137150"/>
            <a:ext cx="1082675"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b="1" dirty="0">
                <a:solidFill>
                  <a:schemeClr val="dk1"/>
                </a:solidFill>
                <a:latin typeface="メイリオ" panose="020B0604030504040204" pitchFamily="50" charset="-128"/>
                <a:ea typeface="メイリオ" panose="020B0604030504040204" pitchFamily="50" charset="-128"/>
                <a:sym typeface="Arial"/>
              </a:rPr>
              <a:t>コスト構造</a:t>
            </a:r>
            <a:endParaRPr dirty="0">
              <a:latin typeface="メイリオ" panose="020B0604030504040204" pitchFamily="50" charset="-128"/>
              <a:ea typeface="メイリオ" panose="020B0604030504040204" pitchFamily="50" charset="-128"/>
            </a:endParaRPr>
          </a:p>
        </p:txBody>
      </p:sp>
      <p:sp>
        <p:nvSpPr>
          <p:cNvPr id="384" name="Google Shape;384;p19"/>
          <p:cNvSpPr txBox="1"/>
          <p:nvPr/>
        </p:nvSpPr>
        <p:spPr>
          <a:xfrm>
            <a:off x="6096000" y="5137150"/>
            <a:ext cx="1095375"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b="1" dirty="0">
                <a:solidFill>
                  <a:schemeClr val="dk1"/>
                </a:solidFill>
                <a:latin typeface="メイリオ" panose="020B0604030504040204" pitchFamily="50" charset="-128"/>
                <a:ea typeface="メイリオ" panose="020B0604030504040204" pitchFamily="50" charset="-128"/>
                <a:sym typeface="Arial"/>
              </a:rPr>
              <a:t>収入の流れ</a:t>
            </a:r>
            <a:endParaRPr dirty="0">
              <a:latin typeface="メイリオ" panose="020B0604030504040204" pitchFamily="50" charset="-128"/>
              <a:ea typeface="メイリオ" panose="020B0604030504040204" pitchFamily="50" charset="-128"/>
            </a:endParaRPr>
          </a:p>
        </p:txBody>
      </p:sp>
      <p:sp>
        <p:nvSpPr>
          <p:cNvPr id="385" name="Google Shape;385;p19"/>
          <p:cNvSpPr txBox="1"/>
          <p:nvPr/>
        </p:nvSpPr>
        <p:spPr>
          <a:xfrm>
            <a:off x="417513" y="2955925"/>
            <a:ext cx="1441450"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b="1" dirty="0">
                <a:solidFill>
                  <a:schemeClr val="dk1"/>
                </a:solidFill>
                <a:latin typeface="メイリオ" panose="020B0604030504040204" pitchFamily="50" charset="-128"/>
                <a:ea typeface="メイリオ" panose="020B0604030504040204" pitchFamily="50" charset="-128"/>
                <a:sym typeface="Arial"/>
              </a:rPr>
              <a:t>現状の代替状況</a:t>
            </a:r>
            <a:endParaRPr dirty="0">
              <a:latin typeface="メイリオ" panose="020B0604030504040204" pitchFamily="50" charset="-128"/>
              <a:ea typeface="メイリオ" panose="020B0604030504040204" pitchFamily="50" charset="-128"/>
            </a:endParaRPr>
          </a:p>
        </p:txBody>
      </p:sp>
      <p:sp>
        <p:nvSpPr>
          <p:cNvPr id="386" name="Google Shape;386;p19"/>
          <p:cNvSpPr txBox="1"/>
          <p:nvPr/>
        </p:nvSpPr>
        <p:spPr>
          <a:xfrm>
            <a:off x="4984750" y="2955925"/>
            <a:ext cx="2159000"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b="1" dirty="0">
                <a:solidFill>
                  <a:schemeClr val="dk1"/>
                </a:solidFill>
                <a:latin typeface="メイリオ" panose="020B0604030504040204" pitchFamily="50" charset="-128"/>
                <a:ea typeface="メイリオ" panose="020B0604030504040204" pitchFamily="50" charset="-128"/>
                <a:sym typeface="Arial"/>
              </a:rPr>
              <a:t>一言で例えたコンセプト</a:t>
            </a:r>
            <a:endParaRPr dirty="0">
              <a:latin typeface="メイリオ" panose="020B0604030504040204" pitchFamily="50" charset="-128"/>
              <a:ea typeface="メイリオ" panose="020B0604030504040204" pitchFamily="50" charset="-128"/>
            </a:endParaRPr>
          </a:p>
        </p:txBody>
      </p:sp>
      <p:sp>
        <p:nvSpPr>
          <p:cNvPr id="387" name="Google Shape;387;p19"/>
          <p:cNvSpPr txBox="1"/>
          <p:nvPr/>
        </p:nvSpPr>
        <p:spPr>
          <a:xfrm>
            <a:off x="9577388" y="2955925"/>
            <a:ext cx="1800225"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b="1" dirty="0">
                <a:solidFill>
                  <a:schemeClr val="dk1"/>
                </a:solidFill>
                <a:latin typeface="メイリオ" panose="020B0604030504040204" pitchFamily="50" charset="-128"/>
                <a:ea typeface="メイリオ" panose="020B0604030504040204" pitchFamily="50" charset="-128"/>
                <a:sym typeface="Arial"/>
              </a:rPr>
              <a:t>アーリーアダプター</a:t>
            </a:r>
            <a:endParaRPr dirty="0">
              <a:latin typeface="メイリオ" panose="020B0604030504040204" pitchFamily="50" charset="-128"/>
              <a:ea typeface="メイリオ" panose="020B0604030504040204" pitchFamily="50" charset="-128"/>
            </a:endParaRPr>
          </a:p>
        </p:txBody>
      </p:sp>
      <p:sp>
        <p:nvSpPr>
          <p:cNvPr id="388" name="Google Shape;388;p19"/>
          <p:cNvSpPr txBox="1"/>
          <p:nvPr/>
        </p:nvSpPr>
        <p:spPr>
          <a:xfrm>
            <a:off x="417513" y="1147763"/>
            <a:ext cx="2303836" cy="13849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200" u="sng" dirty="0">
                <a:solidFill>
                  <a:schemeClr val="dk1"/>
                </a:solidFill>
                <a:latin typeface="メイリオ" panose="020B0604030504040204" pitchFamily="50" charset="-128"/>
                <a:ea typeface="メイリオ" panose="020B0604030504040204" pitchFamily="50" charset="-128"/>
                <a:sym typeface="Arial"/>
              </a:rPr>
              <a:t>考察を見る側</a:t>
            </a:r>
            <a:endParaRPr sz="1200"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200" dirty="0">
                <a:solidFill>
                  <a:schemeClr val="dk1"/>
                </a:solidFill>
                <a:latin typeface="メイリオ" panose="020B0604030504040204" pitchFamily="50" charset="-128"/>
                <a:ea typeface="メイリオ" panose="020B0604030504040204" pitchFamily="50" charset="-128"/>
                <a:sym typeface="Arial"/>
              </a:rPr>
              <a:t>・(最新話に追いつてないけど)</a:t>
            </a:r>
            <a:endParaRPr dirty="0">
              <a:latin typeface="メイリオ" panose="020B0604030504040204" pitchFamily="50" charset="-128"/>
              <a:ea typeface="メイリオ" panose="020B0604030504040204" pitchFamily="50" charset="-128"/>
            </a:endParaRPr>
          </a:p>
          <a:p>
            <a:pPr marL="0" marR="0" lvl="0" indent="0" algn="l" rtl="0">
              <a:spcBef>
                <a:spcPts val="0"/>
              </a:spcBef>
              <a:spcAft>
                <a:spcPts val="0"/>
              </a:spcAft>
              <a:buNone/>
            </a:pPr>
            <a:r>
              <a:rPr lang="ja-JP" sz="1200" dirty="0">
                <a:solidFill>
                  <a:schemeClr val="dk1"/>
                </a:solidFill>
                <a:latin typeface="メイリオ" panose="020B0604030504040204" pitchFamily="50" charset="-128"/>
                <a:ea typeface="メイリオ" panose="020B0604030504040204" pitchFamily="50" charset="-128"/>
                <a:sym typeface="Arial"/>
              </a:rPr>
              <a:t>　考察を見たい</a:t>
            </a:r>
            <a:endParaRPr sz="12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200" dirty="0">
                <a:solidFill>
                  <a:schemeClr val="dk1"/>
                </a:solidFill>
                <a:latin typeface="メイリオ" panose="020B0604030504040204" pitchFamily="50" charset="-128"/>
                <a:ea typeface="メイリオ" panose="020B0604030504040204" pitchFamily="50" charset="-128"/>
                <a:sym typeface="Arial"/>
              </a:rPr>
              <a:t>・ネタバレはされたくない</a:t>
            </a:r>
            <a:endParaRPr sz="12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endParaRPr sz="12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200" u="sng" dirty="0">
                <a:solidFill>
                  <a:schemeClr val="dk1"/>
                </a:solidFill>
                <a:latin typeface="メイリオ" panose="020B0604030504040204" pitchFamily="50" charset="-128"/>
                <a:ea typeface="メイリオ" panose="020B0604030504040204" pitchFamily="50" charset="-128"/>
                <a:sym typeface="Arial"/>
              </a:rPr>
              <a:t>考察をする側</a:t>
            </a:r>
            <a:endParaRPr sz="1200"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200" dirty="0">
                <a:solidFill>
                  <a:schemeClr val="dk1"/>
                </a:solidFill>
                <a:latin typeface="メイリオ" panose="020B0604030504040204" pitchFamily="50" charset="-128"/>
                <a:ea typeface="メイリオ" panose="020B0604030504040204" pitchFamily="50" charset="-128"/>
                <a:sym typeface="Arial"/>
              </a:rPr>
              <a:t>・自身の考察を共有したい</a:t>
            </a:r>
            <a:endParaRPr sz="1200" dirty="0">
              <a:solidFill>
                <a:schemeClr val="dk1"/>
              </a:solidFill>
              <a:latin typeface="メイリオ" panose="020B0604030504040204" pitchFamily="50" charset="-128"/>
              <a:ea typeface="メイリオ" panose="020B0604030504040204" pitchFamily="50" charset="-128"/>
              <a:sym typeface="Arial"/>
            </a:endParaRPr>
          </a:p>
        </p:txBody>
      </p:sp>
      <p:sp>
        <p:nvSpPr>
          <p:cNvPr id="389" name="Google Shape;389;p19"/>
          <p:cNvSpPr txBox="1"/>
          <p:nvPr/>
        </p:nvSpPr>
        <p:spPr>
          <a:xfrm>
            <a:off x="496103" y="3429000"/>
            <a:ext cx="1810111"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200" u="sng" dirty="0">
                <a:solidFill>
                  <a:schemeClr val="dk1"/>
                </a:solidFill>
                <a:latin typeface="メイリオ" panose="020B0604030504040204" pitchFamily="50" charset="-128"/>
                <a:ea typeface="メイリオ" panose="020B0604030504040204" pitchFamily="50" charset="-128"/>
                <a:sym typeface="Arial"/>
              </a:rPr>
              <a:t>考察を見る側</a:t>
            </a:r>
            <a:endParaRPr sz="1200"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200" dirty="0">
                <a:solidFill>
                  <a:schemeClr val="dk1"/>
                </a:solidFill>
                <a:latin typeface="メイリオ" panose="020B0604030504040204" pitchFamily="50" charset="-128"/>
                <a:ea typeface="メイリオ" panose="020B0604030504040204" pitchFamily="50" charset="-128"/>
                <a:sym typeface="Arial"/>
              </a:rPr>
              <a:t>・Xやwebサイトの閲覧</a:t>
            </a:r>
            <a:endParaRPr sz="12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endParaRPr sz="1200"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200" u="sng" dirty="0">
                <a:solidFill>
                  <a:schemeClr val="dk1"/>
                </a:solidFill>
                <a:latin typeface="メイリオ" panose="020B0604030504040204" pitchFamily="50" charset="-128"/>
                <a:ea typeface="メイリオ" panose="020B0604030504040204" pitchFamily="50" charset="-128"/>
                <a:sym typeface="Arial"/>
              </a:rPr>
              <a:t>考察をする側</a:t>
            </a:r>
            <a:endParaRPr sz="1200" u="sng"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200" dirty="0">
                <a:solidFill>
                  <a:schemeClr val="dk1"/>
                </a:solidFill>
                <a:latin typeface="メイリオ" panose="020B0604030504040204" pitchFamily="50" charset="-128"/>
                <a:ea typeface="メイリオ" panose="020B0604030504040204" pitchFamily="50" charset="-128"/>
                <a:sym typeface="Arial"/>
              </a:rPr>
              <a:t>・Xでの投稿</a:t>
            </a:r>
            <a:endParaRPr sz="12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200" dirty="0">
                <a:solidFill>
                  <a:schemeClr val="dk1"/>
                </a:solidFill>
                <a:latin typeface="メイリオ" panose="020B0604030504040204" pitchFamily="50" charset="-128"/>
                <a:ea typeface="メイリオ" panose="020B0604030504040204" pitchFamily="50" charset="-128"/>
                <a:sym typeface="Arial"/>
              </a:rPr>
              <a:t>・webサイトへの記述</a:t>
            </a:r>
            <a:endParaRPr sz="1200" dirty="0">
              <a:solidFill>
                <a:schemeClr val="dk1"/>
              </a:solidFill>
              <a:latin typeface="メイリオ" panose="020B0604030504040204" pitchFamily="50" charset="-128"/>
              <a:ea typeface="メイリオ" panose="020B0604030504040204" pitchFamily="50" charset="-128"/>
              <a:sym typeface="Arial"/>
            </a:endParaRPr>
          </a:p>
        </p:txBody>
      </p:sp>
      <p:sp>
        <p:nvSpPr>
          <p:cNvPr id="390" name="Google Shape;390;p19"/>
          <p:cNvSpPr txBox="1"/>
          <p:nvPr/>
        </p:nvSpPr>
        <p:spPr>
          <a:xfrm>
            <a:off x="9666413" y="1135062"/>
            <a:ext cx="1569660" cy="15234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・マンガ好き</a:t>
            </a:r>
            <a:endParaRPr sz="18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・アニメ好き</a:t>
            </a:r>
            <a:endParaRPr sz="18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・ドラマ好き</a:t>
            </a:r>
            <a:endParaRPr sz="18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・音楽好き</a:t>
            </a:r>
            <a:endParaRPr sz="18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endParaRPr sz="105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endParaRPr sz="1050" dirty="0">
              <a:solidFill>
                <a:schemeClr val="dk1"/>
              </a:solidFill>
              <a:latin typeface="メイリオ" panose="020B0604030504040204" pitchFamily="50" charset="-128"/>
              <a:ea typeface="メイリオ" panose="020B0604030504040204" pitchFamily="50" charset="-128"/>
              <a:sym typeface="Arial"/>
            </a:endParaRPr>
          </a:p>
        </p:txBody>
      </p:sp>
      <p:sp>
        <p:nvSpPr>
          <p:cNvPr id="391" name="Google Shape;391;p19"/>
          <p:cNvSpPr txBox="1"/>
          <p:nvPr/>
        </p:nvSpPr>
        <p:spPr>
          <a:xfrm>
            <a:off x="9629270" y="3483828"/>
            <a:ext cx="2262158" cy="8079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普段から</a:t>
            </a:r>
            <a:endParaRPr sz="18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考察の投稿を行う人</a:t>
            </a:r>
            <a:endParaRPr sz="105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endParaRPr sz="1050" dirty="0">
              <a:solidFill>
                <a:schemeClr val="dk1"/>
              </a:solidFill>
              <a:latin typeface="メイリオ" panose="020B0604030504040204" pitchFamily="50" charset="-128"/>
              <a:ea typeface="メイリオ" panose="020B0604030504040204" pitchFamily="50" charset="-128"/>
              <a:sym typeface="Arial"/>
            </a:endParaRPr>
          </a:p>
        </p:txBody>
      </p:sp>
      <p:sp>
        <p:nvSpPr>
          <p:cNvPr id="392" name="Google Shape;392;p19"/>
          <p:cNvSpPr txBox="1"/>
          <p:nvPr/>
        </p:nvSpPr>
        <p:spPr>
          <a:xfrm>
            <a:off x="5022660" y="1498491"/>
            <a:ext cx="226215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ネタバレを気にせず</a:t>
            </a:r>
            <a:endParaRPr sz="105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投稿・閲覧ができる</a:t>
            </a:r>
            <a:endParaRPr sz="3600" dirty="0">
              <a:solidFill>
                <a:schemeClr val="dk1"/>
              </a:solidFill>
              <a:latin typeface="メイリオ" panose="020B0604030504040204" pitchFamily="50" charset="-128"/>
              <a:ea typeface="メイリオ" panose="020B0604030504040204" pitchFamily="50" charset="-128"/>
              <a:sym typeface="Arial"/>
            </a:endParaRPr>
          </a:p>
        </p:txBody>
      </p:sp>
      <p:sp>
        <p:nvSpPr>
          <p:cNvPr id="393" name="Google Shape;393;p19"/>
          <p:cNvSpPr txBox="1"/>
          <p:nvPr/>
        </p:nvSpPr>
        <p:spPr>
          <a:xfrm>
            <a:off x="5118759" y="3617528"/>
            <a:ext cx="180049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ネタバレなしの</a:t>
            </a:r>
            <a:endParaRPr sz="18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800" dirty="0">
                <a:solidFill>
                  <a:schemeClr val="dk1"/>
                </a:solidFill>
                <a:latin typeface="メイリオ" panose="020B0604030504040204" pitchFamily="50" charset="-128"/>
                <a:ea typeface="メイリオ" panose="020B0604030504040204" pitchFamily="50" charset="-128"/>
                <a:sym typeface="Arial"/>
              </a:rPr>
              <a:t>考察の場</a:t>
            </a:r>
            <a:endParaRPr sz="1800" dirty="0">
              <a:solidFill>
                <a:schemeClr val="dk1"/>
              </a:solidFill>
              <a:latin typeface="メイリオ" panose="020B0604030504040204" pitchFamily="50" charset="-128"/>
              <a:ea typeface="メイリオ" panose="020B0604030504040204" pitchFamily="50" charset="-128"/>
              <a:sym typeface="Arial"/>
            </a:endParaRPr>
          </a:p>
        </p:txBody>
      </p:sp>
      <p:sp>
        <p:nvSpPr>
          <p:cNvPr id="394" name="Google Shape;394;p19"/>
          <p:cNvSpPr txBox="1"/>
          <p:nvPr/>
        </p:nvSpPr>
        <p:spPr>
          <a:xfrm>
            <a:off x="2670176" y="1014195"/>
            <a:ext cx="2339102" cy="21544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600" dirty="0">
                <a:solidFill>
                  <a:schemeClr val="dk1"/>
                </a:solidFill>
                <a:latin typeface="メイリオ" panose="020B0604030504040204" pitchFamily="50" charset="-128"/>
                <a:ea typeface="メイリオ" panose="020B0604030504040204" pitchFamily="50" charset="-128"/>
                <a:sym typeface="Arial"/>
              </a:rPr>
              <a:t>話数による投稿管理</a:t>
            </a:r>
            <a:endParaRPr sz="16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600" dirty="0">
                <a:solidFill>
                  <a:schemeClr val="dk1"/>
                </a:solidFill>
                <a:latin typeface="メイリオ" panose="020B0604030504040204" pitchFamily="50" charset="-128"/>
                <a:ea typeface="メイリオ" panose="020B0604030504040204" pitchFamily="50" charset="-128"/>
                <a:sym typeface="Arial"/>
              </a:rPr>
              <a:t>　　　　↓</a:t>
            </a:r>
            <a:endParaRPr sz="16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200" dirty="0">
                <a:solidFill>
                  <a:schemeClr val="dk1"/>
                </a:solidFill>
                <a:latin typeface="メイリオ" panose="020B0604030504040204" pitchFamily="50" charset="-128"/>
                <a:ea typeface="メイリオ" panose="020B0604030504040204" pitchFamily="50" charset="-128"/>
                <a:sym typeface="Arial"/>
              </a:rPr>
              <a:t>・自身が見た話を選ぶことで、</a:t>
            </a:r>
            <a:endParaRPr sz="12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200" dirty="0">
                <a:solidFill>
                  <a:schemeClr val="dk1"/>
                </a:solidFill>
                <a:latin typeface="メイリオ" panose="020B0604030504040204" pitchFamily="50" charset="-128"/>
                <a:ea typeface="メイリオ" panose="020B0604030504040204" pitchFamily="50" charset="-128"/>
                <a:sym typeface="Arial"/>
              </a:rPr>
              <a:t>　それより先の話に関する</a:t>
            </a:r>
            <a:endParaRPr sz="12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200" dirty="0">
                <a:solidFill>
                  <a:schemeClr val="dk1"/>
                </a:solidFill>
                <a:latin typeface="メイリオ" panose="020B0604030504040204" pitchFamily="50" charset="-128"/>
                <a:ea typeface="メイリオ" panose="020B0604030504040204" pitchFamily="50" charset="-128"/>
                <a:sym typeface="Arial"/>
              </a:rPr>
              <a:t>　投稿が表示されなくなる</a:t>
            </a:r>
            <a:endParaRPr sz="12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endParaRPr sz="12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200" dirty="0">
                <a:solidFill>
                  <a:schemeClr val="dk1"/>
                </a:solidFill>
                <a:latin typeface="メイリオ" panose="020B0604030504040204" pitchFamily="50" charset="-128"/>
                <a:ea typeface="メイリオ" panose="020B0604030504040204" pitchFamily="50" charset="-128"/>
                <a:sym typeface="Arial"/>
              </a:rPr>
              <a:t>・読んだ話に関する</a:t>
            </a:r>
            <a:endParaRPr sz="12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200" dirty="0">
                <a:solidFill>
                  <a:schemeClr val="dk1"/>
                </a:solidFill>
                <a:latin typeface="メイリオ" panose="020B0604030504040204" pitchFamily="50" charset="-128"/>
                <a:ea typeface="メイリオ" panose="020B0604030504040204" pitchFamily="50" charset="-128"/>
                <a:sym typeface="Arial"/>
              </a:rPr>
              <a:t>　考察が見れる</a:t>
            </a:r>
            <a:endParaRPr sz="12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200" dirty="0">
                <a:solidFill>
                  <a:schemeClr val="dk1"/>
                </a:solidFill>
                <a:latin typeface="メイリオ" panose="020B0604030504040204" pitchFamily="50" charset="-128"/>
                <a:ea typeface="メイリオ" panose="020B0604030504040204" pitchFamily="50" charset="-128"/>
                <a:sym typeface="Arial"/>
              </a:rPr>
              <a:t>   (投稿が流れない)</a:t>
            </a:r>
            <a:endParaRPr sz="1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endParaRPr sz="1800" dirty="0">
              <a:solidFill>
                <a:schemeClr val="dk1"/>
              </a:solidFill>
              <a:latin typeface="メイリオ" panose="020B0604030504040204" pitchFamily="50" charset="-128"/>
              <a:ea typeface="メイリオ" panose="020B0604030504040204" pitchFamily="50" charset="-128"/>
              <a:sym typeface="Arial"/>
            </a:endParaRPr>
          </a:p>
        </p:txBody>
      </p:sp>
      <p:sp>
        <p:nvSpPr>
          <p:cNvPr id="395" name="Google Shape;395;p19"/>
          <p:cNvSpPr txBox="1"/>
          <p:nvPr/>
        </p:nvSpPr>
        <p:spPr>
          <a:xfrm>
            <a:off x="7507153" y="3417473"/>
            <a:ext cx="180049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dirty="0">
                <a:solidFill>
                  <a:schemeClr val="dk1"/>
                </a:solidFill>
                <a:latin typeface="メイリオ" panose="020B0604030504040204" pitchFamily="50" charset="-128"/>
                <a:ea typeface="メイリオ" panose="020B0604030504040204" pitchFamily="50" charset="-128"/>
                <a:sym typeface="Arial"/>
              </a:rPr>
              <a:t>考察を行っている</a:t>
            </a:r>
            <a:endParaRPr sz="1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400" dirty="0">
                <a:solidFill>
                  <a:schemeClr val="dk1"/>
                </a:solidFill>
                <a:latin typeface="メイリオ" panose="020B0604030504040204" pitchFamily="50" charset="-128"/>
                <a:ea typeface="メイリオ" panose="020B0604030504040204" pitchFamily="50" charset="-128"/>
                <a:sym typeface="Arial"/>
              </a:rPr>
              <a:t>投稿者への呼びかけ</a:t>
            </a:r>
            <a:endParaRPr sz="1400" dirty="0">
              <a:solidFill>
                <a:schemeClr val="dk1"/>
              </a:solidFill>
              <a:latin typeface="メイリオ" panose="020B0604030504040204" pitchFamily="50" charset="-128"/>
              <a:ea typeface="メイリオ" panose="020B0604030504040204" pitchFamily="50" charset="-128"/>
              <a:sym typeface="Arial"/>
            </a:endParaRPr>
          </a:p>
        </p:txBody>
      </p:sp>
      <p:sp>
        <p:nvSpPr>
          <p:cNvPr id="396" name="Google Shape;396;p19"/>
          <p:cNvSpPr txBox="1"/>
          <p:nvPr/>
        </p:nvSpPr>
        <p:spPr>
          <a:xfrm>
            <a:off x="6643687" y="5641771"/>
            <a:ext cx="467307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dirty="0">
                <a:solidFill>
                  <a:schemeClr val="dk1"/>
                </a:solidFill>
                <a:latin typeface="メイリオ" panose="020B0604030504040204" pitchFamily="50" charset="-128"/>
                <a:ea typeface="メイリオ" panose="020B0604030504040204" pitchFamily="50" charset="-128"/>
                <a:sym typeface="Arial"/>
              </a:rPr>
              <a:t>よく見る考察を踏まえた新たなおすすめ作品の提示など</a:t>
            </a:r>
            <a:endParaRPr sz="1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400" dirty="0">
                <a:solidFill>
                  <a:schemeClr val="dk1"/>
                </a:solidFill>
                <a:latin typeface="メイリオ" panose="020B0604030504040204" pitchFamily="50" charset="-128"/>
                <a:ea typeface="メイリオ" panose="020B0604030504040204" pitchFamily="50" charset="-128"/>
                <a:sym typeface="Arial"/>
              </a:rPr>
              <a:t>追加機能の解放に課金要素を加える</a:t>
            </a:r>
            <a:endParaRPr sz="1400" dirty="0">
              <a:solidFill>
                <a:schemeClr val="dk1"/>
              </a:solidFill>
              <a:latin typeface="メイリオ" panose="020B0604030504040204" pitchFamily="50" charset="-128"/>
              <a:ea typeface="メイリオ" panose="020B0604030504040204" pitchFamily="50" charset="-128"/>
              <a:sym typeface="Arial"/>
            </a:endParaRPr>
          </a:p>
        </p:txBody>
      </p:sp>
      <p:sp>
        <p:nvSpPr>
          <p:cNvPr id="397" name="Google Shape;397;p19"/>
          <p:cNvSpPr txBox="1"/>
          <p:nvPr/>
        </p:nvSpPr>
        <p:spPr>
          <a:xfrm>
            <a:off x="2877176" y="3639343"/>
            <a:ext cx="108234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dirty="0">
                <a:solidFill>
                  <a:schemeClr val="dk1"/>
                </a:solidFill>
                <a:latin typeface="メイリオ" panose="020B0604030504040204" pitchFamily="50" charset="-128"/>
                <a:ea typeface="メイリオ" panose="020B0604030504040204" pitchFamily="50" charset="-128"/>
                <a:sym typeface="Arial"/>
              </a:rPr>
              <a:t>・利用者数</a:t>
            </a:r>
            <a:endParaRPr sz="1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400" dirty="0">
                <a:solidFill>
                  <a:schemeClr val="dk1"/>
                </a:solidFill>
                <a:latin typeface="メイリオ" panose="020B0604030504040204" pitchFamily="50" charset="-128"/>
                <a:ea typeface="メイリオ" panose="020B0604030504040204" pitchFamily="50" charset="-128"/>
                <a:sym typeface="Arial"/>
              </a:rPr>
              <a:t>・投稿数</a:t>
            </a:r>
            <a:endParaRPr sz="1400" dirty="0">
              <a:solidFill>
                <a:schemeClr val="dk1"/>
              </a:solidFill>
              <a:latin typeface="メイリオ" panose="020B0604030504040204" pitchFamily="50" charset="-128"/>
              <a:ea typeface="メイリオ" panose="020B0604030504040204" pitchFamily="50" charset="-128"/>
              <a:sym typeface="Arial"/>
            </a:endParaRPr>
          </a:p>
        </p:txBody>
      </p:sp>
      <p:sp>
        <p:nvSpPr>
          <p:cNvPr id="398" name="Google Shape;398;p19"/>
          <p:cNvSpPr txBox="1"/>
          <p:nvPr/>
        </p:nvSpPr>
        <p:spPr>
          <a:xfrm>
            <a:off x="7435999" y="1437743"/>
            <a:ext cx="1980029"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u="sng" dirty="0">
                <a:solidFill>
                  <a:srgbClr val="A5A5A5"/>
                </a:solidFill>
                <a:latin typeface="メイリオ" panose="020B0604030504040204" pitchFamily="50" charset="-128"/>
                <a:ea typeface="メイリオ" panose="020B0604030504040204" pitchFamily="50" charset="-128"/>
                <a:sym typeface="Arial"/>
              </a:rPr>
              <a:t>将来</a:t>
            </a:r>
            <a:endParaRPr sz="1400" u="sng" dirty="0">
              <a:solidFill>
                <a:srgbClr val="A5A5A5"/>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400" dirty="0">
                <a:solidFill>
                  <a:srgbClr val="A5A5A5"/>
                </a:solidFill>
                <a:latin typeface="メイリオ" panose="020B0604030504040204" pitchFamily="50" charset="-128"/>
                <a:ea typeface="メイリオ" panose="020B0604030504040204" pitchFamily="50" charset="-128"/>
                <a:sym typeface="Arial"/>
              </a:rPr>
              <a:t>出版社、テレビ局など</a:t>
            </a:r>
            <a:endParaRPr sz="1400" dirty="0">
              <a:solidFill>
                <a:srgbClr val="A5A5A5"/>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400" dirty="0">
                <a:solidFill>
                  <a:srgbClr val="A5A5A5"/>
                </a:solidFill>
                <a:latin typeface="メイリオ" panose="020B0604030504040204" pitchFamily="50" charset="-128"/>
                <a:ea typeface="メイリオ" panose="020B0604030504040204" pitchFamily="50" charset="-128"/>
                <a:sym typeface="Arial"/>
              </a:rPr>
              <a:t>との協力</a:t>
            </a:r>
            <a:endParaRPr sz="1400" dirty="0">
              <a:solidFill>
                <a:srgbClr val="A5A5A5"/>
              </a:solidFill>
              <a:latin typeface="メイリオ" panose="020B0604030504040204" pitchFamily="50" charset="-128"/>
              <a:ea typeface="メイリオ" panose="020B0604030504040204" pitchFamily="50" charset="-128"/>
              <a:sym typeface="Arial"/>
            </a:endParaRPr>
          </a:p>
        </p:txBody>
      </p:sp>
      <p:sp>
        <p:nvSpPr>
          <p:cNvPr id="399" name="Google Shape;399;p19"/>
          <p:cNvSpPr txBox="1"/>
          <p:nvPr/>
        </p:nvSpPr>
        <p:spPr>
          <a:xfrm>
            <a:off x="928157" y="5794171"/>
            <a:ext cx="162095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400" dirty="0">
                <a:solidFill>
                  <a:schemeClr val="dk1"/>
                </a:solidFill>
                <a:latin typeface="メイリオ" panose="020B0604030504040204" pitchFamily="50" charset="-128"/>
                <a:ea typeface="メイリオ" panose="020B0604030504040204" pitchFamily="50" charset="-128"/>
                <a:sym typeface="Arial"/>
              </a:rPr>
              <a:t>人権費</a:t>
            </a:r>
            <a:endParaRPr sz="1400" dirty="0">
              <a:solidFill>
                <a:schemeClr val="dk1"/>
              </a:solidFill>
              <a:latin typeface="メイリオ" panose="020B0604030504040204" pitchFamily="50" charset="-128"/>
              <a:ea typeface="メイリオ" panose="020B0604030504040204" pitchFamily="50" charset="-128"/>
              <a:sym typeface="Arial"/>
            </a:endParaRPr>
          </a:p>
          <a:p>
            <a:pPr marL="0" marR="0" lvl="0" indent="0" algn="l" rtl="0">
              <a:spcBef>
                <a:spcPts val="0"/>
              </a:spcBef>
              <a:spcAft>
                <a:spcPts val="0"/>
              </a:spcAft>
              <a:buNone/>
            </a:pPr>
            <a:r>
              <a:rPr lang="ja-JP" sz="1400" dirty="0">
                <a:solidFill>
                  <a:schemeClr val="dk1"/>
                </a:solidFill>
                <a:latin typeface="メイリオ" panose="020B0604030504040204" pitchFamily="50" charset="-128"/>
                <a:ea typeface="メイリオ" panose="020B0604030504040204" pitchFamily="50" charset="-128"/>
                <a:sym typeface="Arial"/>
              </a:rPr>
              <a:t>サーバーの管理費</a:t>
            </a:r>
            <a:endParaRPr sz="1400" dirty="0">
              <a:solidFill>
                <a:schemeClr val="dk1"/>
              </a:solidFill>
              <a:latin typeface="メイリオ" panose="020B0604030504040204" pitchFamily="50" charset="-128"/>
              <a:ea typeface="メイリオ" panose="020B0604030504040204" pitchFamily="50" charset="-128"/>
              <a:sym typeface="Arial"/>
            </a:endParaRPr>
          </a:p>
        </p:txBody>
      </p:sp>
    </p:spTree>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1262</Words>
  <Application>Microsoft Office PowerPoint</Application>
  <PresentationFormat>ワイド画面</PresentationFormat>
  <Paragraphs>280</Paragraphs>
  <Slides>26</Slides>
  <Notes>26</Notes>
  <HiddenSlides>4</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26</vt:i4>
      </vt:variant>
    </vt:vector>
  </HeadingPairs>
  <TitlesOfParts>
    <vt:vector size="31" baseType="lpstr">
      <vt:lpstr>メイリオ</vt:lpstr>
      <vt:lpstr>游明朝</vt:lpstr>
      <vt:lpstr>Aharoni</vt:lpstr>
      <vt:lpstr>Arial</vt:lpstr>
      <vt:lpstr>Office テーマ</vt:lpstr>
      <vt:lpstr>考察特化SNS Consideration-specific  SNS</vt:lpstr>
      <vt:lpstr>コンセプト</vt:lpstr>
      <vt:lpstr>背景</vt:lpstr>
      <vt:lpstr>リーンキャンパス</vt:lpstr>
      <vt:lpstr>ペルソナ</vt:lpstr>
      <vt:lpstr>アプリ機能</vt:lpstr>
      <vt:lpstr>アプリ画面</vt:lpstr>
      <vt:lpstr>demo</vt:lpstr>
      <vt:lpstr>分担</vt:lpstr>
      <vt:lpstr>今後の展望</vt:lpstr>
      <vt:lpstr>ロードマップ</vt:lpstr>
      <vt:lpstr>考察特化SNS Consideration-specific  SNS</vt:lpstr>
      <vt:lpstr>concept</vt:lpstr>
      <vt:lpstr>background</vt:lpstr>
      <vt:lpstr>Lean campus</vt:lpstr>
      <vt:lpstr>persona</vt:lpstr>
      <vt:lpstr>App Function</vt:lpstr>
      <vt:lpstr>App Screen</vt:lpstr>
      <vt:lpstr>demo</vt:lpstr>
      <vt:lpstr>Share</vt:lpstr>
      <vt:lpstr>Future Prospects</vt:lpstr>
      <vt:lpstr>Roadmap</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ktas.akitomo.3250@outlook.jp</dc:creator>
  <cp:lastModifiedBy>晃知 武田</cp:lastModifiedBy>
  <cp:revision>3</cp:revision>
  <dcterms:created xsi:type="dcterms:W3CDTF">2024-05-27T13:23:00Z</dcterms:created>
  <dcterms:modified xsi:type="dcterms:W3CDTF">2025-02-12T00:51:59Z</dcterms:modified>
</cp:coreProperties>
</file>